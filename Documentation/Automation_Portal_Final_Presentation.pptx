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80" r:id="rId6"/>
    <p:sldId id="260" r:id="rId7"/>
    <p:sldId id="261" r:id="rId8"/>
    <p:sldId id="281" r:id="rId9"/>
    <p:sldId id="262" r:id="rId10"/>
    <p:sldId id="263" r:id="rId11"/>
    <p:sldId id="282" r:id="rId12"/>
    <p:sldId id="264" r:id="rId13"/>
    <p:sldId id="265" r:id="rId14"/>
    <p:sldId id="283" r:id="rId15"/>
    <p:sldId id="266" r:id="rId16"/>
    <p:sldId id="267" r:id="rId17"/>
    <p:sldId id="284" r:id="rId18"/>
    <p:sldId id="268" r:id="rId19"/>
    <p:sldId id="269" r:id="rId20"/>
    <p:sldId id="270" r:id="rId21"/>
    <p:sldId id="271" r:id="rId22"/>
    <p:sldId id="272" r:id="rId23"/>
    <p:sldId id="273" r:id="rId24"/>
    <p:sldId id="274" r:id="rId25"/>
    <p:sldId id="277" r:id="rId26"/>
    <p:sldId id="278" r:id="rId27"/>
    <p:sldId id="279"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107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D0305B-79B8-455A-993D-F845C42C243C}" type="datetimeFigureOut">
              <a:rPr lang="en-IN" smtClean="0"/>
              <a:t>10-12-2025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C6575D-D64C-4C88-A910-8D3CE11E7158}" type="slidenum">
              <a:rPr lang="en-IN" smtClean="0"/>
              <a:t>‹#›</a:t>
            </a:fld>
            <a:endParaRPr lang="en-IN"/>
          </a:p>
        </p:txBody>
      </p:sp>
    </p:spTree>
    <p:extLst>
      <p:ext uri="{BB962C8B-B14F-4D97-AF65-F5344CB8AC3E}">
        <p14:creationId xmlns:p14="http://schemas.microsoft.com/office/powerpoint/2010/main" val="2639327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5C6575D-D64C-4C88-A910-8D3CE11E7158}" type="slidenum">
              <a:rPr lang="en-IN" smtClean="0"/>
              <a:t>25</a:t>
            </a:fld>
            <a:endParaRPr lang="en-IN"/>
          </a:p>
        </p:txBody>
      </p:sp>
    </p:spTree>
    <p:extLst>
      <p:ext uri="{BB962C8B-B14F-4D97-AF65-F5344CB8AC3E}">
        <p14:creationId xmlns:p14="http://schemas.microsoft.com/office/powerpoint/2010/main" val="4040794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Automation Portal</a:t>
            </a:r>
          </a:p>
        </p:txBody>
      </p:sp>
      <p:sp>
        <p:nvSpPr>
          <p:cNvPr id="3" name="Subtitle 2"/>
          <p:cNvSpPr>
            <a:spLocks noGrp="1"/>
          </p:cNvSpPr>
          <p:nvPr>
            <p:ph type="subTitle" idx="1"/>
          </p:nvPr>
        </p:nvSpPr>
        <p:spPr/>
        <p:txBody>
          <a:bodyPr/>
          <a:lstStyle/>
          <a:p>
            <a:r>
              <a:rPr dirty="0"/>
              <a:t>Modules • Features • Architecture • Roadmap • Screenshots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Product Overview</a:t>
            </a:r>
          </a:p>
        </p:txBody>
      </p:sp>
      <p:sp>
        <p:nvSpPr>
          <p:cNvPr id="3" name="Content Placeholder 2"/>
          <p:cNvSpPr>
            <a:spLocks noGrp="1"/>
          </p:cNvSpPr>
          <p:nvPr>
            <p:ph idx="1"/>
          </p:nvPr>
        </p:nvSpPr>
        <p:spPr/>
        <p:txBody>
          <a:bodyPr>
            <a:normAutofit/>
          </a:bodyPr>
          <a:lstStyle/>
          <a:p>
            <a:r>
              <a:rPr sz="2400" dirty="0"/>
              <a:t>The Automation Portal is a centralized system for managing, executing, and tracking automated test cases.</a:t>
            </a:r>
          </a:p>
          <a:p>
            <a:endParaRPr sz="2400" dirty="0"/>
          </a:p>
          <a:p>
            <a:pPr marL="0" indent="0">
              <a:buNone/>
            </a:pPr>
            <a:r>
              <a:rPr sz="2400" b="1" dirty="0"/>
              <a:t>Key Highlights:</a:t>
            </a:r>
          </a:p>
          <a:p>
            <a:r>
              <a:rPr sz="2400" dirty="0"/>
              <a:t> End-to-end test execution lifecycle automation</a:t>
            </a:r>
          </a:p>
          <a:p>
            <a:r>
              <a:rPr sz="2400" dirty="0"/>
              <a:t> Real-time execution panel</a:t>
            </a:r>
          </a:p>
          <a:p>
            <a:r>
              <a:rPr sz="2400" dirty="0"/>
              <a:t> Central test data management</a:t>
            </a:r>
          </a:p>
          <a:p>
            <a:r>
              <a:rPr sz="2400" dirty="0"/>
              <a:t> Role-based user access</a:t>
            </a:r>
          </a:p>
          <a:p>
            <a:r>
              <a:rPr sz="2400" dirty="0"/>
              <a:t> Comprehensive execution analytics dashboard</a:t>
            </a:r>
          </a:p>
          <a:p>
            <a:endParaRPr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Modules</a:t>
            </a:r>
          </a:p>
        </p:txBody>
      </p:sp>
      <p:sp>
        <p:nvSpPr>
          <p:cNvPr id="3" name="Content Placeholder 2"/>
          <p:cNvSpPr>
            <a:spLocks noGrp="1"/>
          </p:cNvSpPr>
          <p:nvPr>
            <p:ph idx="1"/>
          </p:nvPr>
        </p:nvSpPr>
        <p:spPr/>
        <p:txBody>
          <a:bodyPr>
            <a:normAutofit/>
          </a:bodyPr>
          <a:lstStyle/>
          <a:p>
            <a:r>
              <a:rPr sz="1800" dirty="0"/>
              <a:t>Login &amp; Authentication</a:t>
            </a:r>
          </a:p>
          <a:p>
            <a:r>
              <a:rPr sz="1800" dirty="0"/>
              <a:t>User Registration</a:t>
            </a:r>
          </a:p>
          <a:p>
            <a:r>
              <a:rPr sz="1800" dirty="0"/>
              <a:t>Test Case Assignment</a:t>
            </a:r>
          </a:p>
          <a:p>
            <a:r>
              <a:rPr sz="1800" dirty="0"/>
              <a:t>Test Case Execution Panel</a:t>
            </a:r>
            <a:r>
              <a:rPr lang="en-US" sz="1800" dirty="0"/>
              <a:t> (Assigned User)</a:t>
            </a:r>
          </a:p>
          <a:p>
            <a:r>
              <a:rPr lang="en-US" sz="1800" dirty="0"/>
              <a:t>Test Case Execution and Scheduling</a:t>
            </a:r>
            <a:endParaRPr sz="1800" dirty="0"/>
          </a:p>
          <a:p>
            <a:r>
              <a:rPr sz="1800" dirty="0"/>
              <a:t>Execution Summary Dashboard</a:t>
            </a:r>
            <a:r>
              <a:rPr lang="en-US" sz="1800" dirty="0"/>
              <a:t> (Admin and Users)</a:t>
            </a:r>
          </a:p>
          <a:p>
            <a:r>
              <a:rPr lang="en-IN" sz="1800" dirty="0"/>
              <a:t>T</a:t>
            </a:r>
            <a:r>
              <a:rPr sz="1800" dirty="0"/>
              <a:t>est Data Management</a:t>
            </a:r>
          </a:p>
          <a:p>
            <a:r>
              <a:rPr sz="1800" dirty="0"/>
              <a:t>User &amp; Role Management</a:t>
            </a:r>
          </a:p>
          <a:p>
            <a:r>
              <a:rPr sz="1800" dirty="0"/>
              <a:t> User Settings</a:t>
            </a:r>
          </a:p>
          <a:p>
            <a:endParaRPr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Login Page</a:t>
            </a:r>
          </a:p>
        </p:txBody>
      </p:sp>
      <p:sp>
        <p:nvSpPr>
          <p:cNvPr id="3" name="Content Placeholder 2"/>
          <p:cNvSpPr>
            <a:spLocks noGrp="1"/>
          </p:cNvSpPr>
          <p:nvPr>
            <p:ph idx="1"/>
          </p:nvPr>
        </p:nvSpPr>
        <p:spPr/>
        <p:txBody>
          <a:bodyPr>
            <a:normAutofit/>
          </a:bodyPr>
          <a:lstStyle/>
          <a:p>
            <a:pPr marL="0" indent="0">
              <a:buNone/>
            </a:pPr>
            <a:r>
              <a:rPr sz="1800" b="1" dirty="0"/>
              <a:t>Overview:</a:t>
            </a:r>
          </a:p>
          <a:p>
            <a:pPr marL="0" indent="0">
              <a:buNone/>
            </a:pPr>
            <a:r>
              <a:rPr lang="en-US" sz="1800" dirty="0"/>
              <a:t>The login page provides secure access to the Automation Portal using email/username and password. It ensures only authorized users can enter the system through JWT-based authentication. The page includes real-time validation, error messages for incorrect credentials, and redirects users based on their assigned roles.</a:t>
            </a:r>
            <a:endParaRPr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3E40E-E165-E30B-D159-9186FDBDB71F}"/>
              </a:ext>
            </a:extLst>
          </p:cNvPr>
          <p:cNvSpPr>
            <a:spLocks noGrp="1"/>
          </p:cNvSpPr>
          <p:nvPr>
            <p:ph type="title"/>
          </p:nvPr>
        </p:nvSpPr>
        <p:spPr/>
        <p:txBody>
          <a:bodyPr/>
          <a:lstStyle/>
          <a:p>
            <a:endParaRPr lang="en-IN" dirty="0"/>
          </a:p>
        </p:txBody>
      </p:sp>
      <p:sp>
        <p:nvSpPr>
          <p:cNvPr id="5" name="Rectangle 2">
            <a:extLst>
              <a:ext uri="{FF2B5EF4-FFF2-40B4-BE49-F238E27FC236}">
                <a16:creationId xmlns:a16="http://schemas.microsoft.com/office/drawing/2014/main" id="{CCACE857-3275-A2BF-7FB0-48883CCF9137}"/>
              </a:ext>
            </a:extLst>
          </p:cNvPr>
          <p:cNvSpPr>
            <a:spLocks noGrp="1" noChangeArrowheads="1"/>
          </p:cNvSpPr>
          <p:nvPr>
            <p:ph idx="1"/>
          </p:nvPr>
        </p:nvSpPr>
        <p:spPr bwMode="auto">
          <a:xfrm>
            <a:off x="457200" y="2000692"/>
            <a:ext cx="822960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rPr>
              <a:t>Key Features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Secure </a:t>
            </a:r>
            <a:r>
              <a:rPr kumimoji="0" lang="en-US" altLang="en-US" sz="2000" b="1" i="0" u="none" strike="noStrike" cap="none" normalizeH="0" baseline="0" dirty="0">
                <a:ln>
                  <a:noFill/>
                </a:ln>
                <a:solidFill>
                  <a:schemeClr val="tx1"/>
                </a:solidFill>
                <a:effectLst/>
              </a:rPr>
              <a:t>JWT-based authentication</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Validates username/email and password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Clean and user-friendly UI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Error handling for invalid credentials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Redirects users based on roles (Admin/Test Lead/Tester)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Supports future enhancements like MFA/2FA</a:t>
            </a:r>
          </a:p>
        </p:txBody>
      </p:sp>
    </p:spTree>
    <p:extLst>
      <p:ext uri="{BB962C8B-B14F-4D97-AF65-F5344CB8AC3E}">
        <p14:creationId xmlns:p14="http://schemas.microsoft.com/office/powerpoint/2010/main" val="1366842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LoginPage.png"/>
          <p:cNvPicPr>
            <a:picLocks noChangeAspect="1"/>
          </p:cNvPicPr>
          <p:nvPr/>
        </p:nvPicPr>
        <p:blipFill>
          <a:blip r:embed="rId2"/>
          <a:stretch>
            <a:fillRect/>
          </a:stretch>
        </p:blipFill>
        <p:spPr>
          <a:xfrm>
            <a:off x="129574" y="1634490"/>
            <a:ext cx="8884852" cy="46634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Registration</a:t>
            </a:r>
          </a:p>
        </p:txBody>
      </p:sp>
      <p:sp>
        <p:nvSpPr>
          <p:cNvPr id="3" name="Content Placeholder 2"/>
          <p:cNvSpPr>
            <a:spLocks noGrp="1"/>
          </p:cNvSpPr>
          <p:nvPr>
            <p:ph idx="1"/>
          </p:nvPr>
        </p:nvSpPr>
        <p:spPr/>
        <p:txBody>
          <a:bodyPr>
            <a:normAutofit/>
          </a:bodyPr>
          <a:lstStyle/>
          <a:p>
            <a:pPr marL="0" indent="0">
              <a:buNone/>
            </a:pPr>
            <a:r>
              <a:rPr sz="1800" b="1" dirty="0"/>
              <a:t>Overview:</a:t>
            </a:r>
          </a:p>
          <a:p>
            <a:pPr marL="0" indent="0">
              <a:buNone/>
            </a:pPr>
            <a:r>
              <a:rPr lang="en-US" sz="1800" dirty="0"/>
              <a:t>The Registration Page allows new users to sign up for Automation Portal access.</a:t>
            </a:r>
            <a:br>
              <a:rPr lang="en-US" sz="1800" dirty="0"/>
            </a:br>
            <a:r>
              <a:rPr lang="en-US" sz="1800" dirty="0"/>
              <a:t>It captures basic user information and sends it for admin approval or direct onboarding depending on configuration.</a:t>
            </a:r>
            <a:br>
              <a:rPr lang="en-US" sz="1800" dirty="0"/>
            </a:br>
            <a:r>
              <a:rPr lang="en-US" sz="1800" dirty="0"/>
              <a:t>The page includes validations to ensure correct data entry and prevents duplicate accounts.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0B919-7604-16BE-9601-1EDF6E61FC7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CBEFA91-91A4-18DE-4F09-1F6111F3BF26}"/>
              </a:ext>
            </a:extLst>
          </p:cNvPr>
          <p:cNvSpPr>
            <a:spLocks noGrp="1"/>
          </p:cNvSpPr>
          <p:nvPr>
            <p:ph idx="1"/>
          </p:nvPr>
        </p:nvSpPr>
        <p:spPr/>
        <p:txBody>
          <a:bodyPr>
            <a:normAutofit/>
          </a:bodyPr>
          <a:lstStyle/>
          <a:p>
            <a:pPr marL="0" lvl="0" indent="0" defTabSz="914400" eaLnBrk="0" fontAlgn="base" hangingPunct="0">
              <a:spcBef>
                <a:spcPct val="0"/>
              </a:spcBef>
              <a:spcAft>
                <a:spcPct val="0"/>
              </a:spcAft>
              <a:buNone/>
            </a:pPr>
            <a:r>
              <a:rPr lang="en-US" altLang="en-US" sz="2000" b="1" dirty="0"/>
              <a:t>Key Features</a:t>
            </a:r>
          </a:p>
          <a:p>
            <a:pPr marL="0" lvl="0" indent="0" defTabSz="914400" eaLnBrk="0" fontAlgn="base" hangingPunct="0">
              <a:spcBef>
                <a:spcPct val="0"/>
              </a:spcBef>
              <a:spcAft>
                <a:spcPct val="0"/>
              </a:spcAft>
              <a:buFontTx/>
              <a:buChar char="•"/>
            </a:pPr>
            <a:endParaRPr lang="en-IN" sz="2000" dirty="0"/>
          </a:p>
          <a:p>
            <a:pPr defTabSz="914400" eaLnBrk="0" fontAlgn="base" hangingPunct="0">
              <a:spcBef>
                <a:spcPct val="0"/>
              </a:spcBef>
              <a:spcAft>
                <a:spcPct val="0"/>
              </a:spcAft>
            </a:pPr>
            <a:r>
              <a:rPr lang="en-US" sz="2000" dirty="0"/>
              <a:t>User self-registration</a:t>
            </a:r>
          </a:p>
          <a:p>
            <a:pPr defTabSz="914400" eaLnBrk="0" fontAlgn="base" hangingPunct="0">
              <a:spcBef>
                <a:spcPct val="0"/>
              </a:spcBef>
              <a:spcAft>
                <a:spcPct val="0"/>
              </a:spcAft>
            </a:pPr>
            <a:r>
              <a:rPr lang="en-US" sz="2000" dirty="0"/>
              <a:t>Validation for unique email</a:t>
            </a:r>
          </a:p>
          <a:p>
            <a:pPr defTabSz="914400" eaLnBrk="0" fontAlgn="base" hangingPunct="0">
              <a:spcBef>
                <a:spcPct val="0"/>
              </a:spcBef>
              <a:spcAft>
                <a:spcPct val="0"/>
              </a:spcAft>
            </a:pPr>
            <a:r>
              <a:rPr lang="en-US" sz="2000" dirty="0"/>
              <a:t>Optional admin approval workflow</a:t>
            </a:r>
          </a:p>
          <a:p>
            <a:pPr defTabSz="914400" eaLnBrk="0" fontAlgn="base" hangingPunct="0">
              <a:spcBef>
                <a:spcPct val="0"/>
              </a:spcBef>
              <a:spcAft>
                <a:spcPct val="0"/>
              </a:spcAft>
            </a:pPr>
            <a:r>
              <a:rPr lang="en-US" sz="2000" dirty="0"/>
              <a:t>Modern and clean UI</a:t>
            </a:r>
            <a:endParaRPr lang="en-IN" sz="2000" dirty="0"/>
          </a:p>
          <a:p>
            <a:pPr marL="0" lvl="0" indent="0" defTabSz="914400" eaLnBrk="0" fontAlgn="base" hangingPunct="0">
              <a:spcBef>
                <a:spcPct val="0"/>
              </a:spcBef>
              <a:spcAft>
                <a:spcPct val="0"/>
              </a:spcAft>
              <a:buFontTx/>
              <a:buChar char="•"/>
            </a:pPr>
            <a:endParaRPr lang="en-IN" sz="2000" dirty="0"/>
          </a:p>
        </p:txBody>
      </p:sp>
    </p:spTree>
    <p:extLst>
      <p:ext uri="{BB962C8B-B14F-4D97-AF65-F5344CB8AC3E}">
        <p14:creationId xmlns:p14="http://schemas.microsoft.com/office/powerpoint/2010/main" val="953274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Registration.png"/>
          <p:cNvPicPr>
            <a:picLocks noChangeAspect="1"/>
          </p:cNvPicPr>
          <p:nvPr/>
        </p:nvPicPr>
        <p:blipFill>
          <a:blip r:embed="rId2"/>
          <a:stretch>
            <a:fillRect/>
          </a:stretch>
        </p:blipFill>
        <p:spPr>
          <a:xfrm>
            <a:off x="217170" y="1588770"/>
            <a:ext cx="8789670" cy="476671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Test Case Assignment</a:t>
            </a:r>
          </a:p>
        </p:txBody>
      </p:sp>
      <p:sp>
        <p:nvSpPr>
          <p:cNvPr id="3" name="Content Placeholder 2"/>
          <p:cNvSpPr>
            <a:spLocks noGrp="1"/>
          </p:cNvSpPr>
          <p:nvPr>
            <p:ph idx="1"/>
          </p:nvPr>
        </p:nvSpPr>
        <p:spPr/>
        <p:txBody>
          <a:bodyPr>
            <a:normAutofit/>
          </a:bodyPr>
          <a:lstStyle/>
          <a:p>
            <a:pPr marL="0" indent="0">
              <a:buNone/>
            </a:pPr>
            <a:r>
              <a:rPr sz="1800" b="1" dirty="0"/>
              <a:t>Overview:</a:t>
            </a:r>
          </a:p>
          <a:p>
            <a:pPr marL="0" indent="0">
              <a:buNone/>
            </a:pPr>
            <a:r>
              <a:rPr lang="en-US" sz="1800" dirty="0"/>
              <a:t>The Test Case Assignment module allows administrators and QA leads to assign test suites, libraries, and individual test cases to users. It provides a structured way to manage ownership of automation tasks and ensures every tester knows exactly what they need to execute.</a:t>
            </a:r>
            <a:br>
              <a:rPr lang="en-US" sz="1800" dirty="0"/>
            </a:br>
            <a:r>
              <a:rPr lang="en-US" sz="1800" dirty="0"/>
              <a:t>The screen includes filters for library, class, methods, user selection, environment, priority, and execution status. Assigned test cases are tracked centrally, reducing manual coordination and eliminating spreadsheet-based tracking.</a:t>
            </a:r>
            <a:endParaRPr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93155-1230-BCFC-038A-3E22D8DC1D3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21CC74B-AD92-5865-014E-1AEBEFD89EB1}"/>
              </a:ext>
            </a:extLst>
          </p:cNvPr>
          <p:cNvSpPr>
            <a:spLocks noGrp="1"/>
          </p:cNvSpPr>
          <p:nvPr>
            <p:ph idx="1"/>
          </p:nvPr>
        </p:nvSpPr>
        <p:spPr/>
        <p:txBody>
          <a:bodyPr>
            <a:normAutofit/>
          </a:bodyPr>
          <a:lstStyle/>
          <a:p>
            <a:pPr marL="0" indent="0">
              <a:buNone/>
            </a:pPr>
            <a:r>
              <a:rPr lang="en-US" sz="2000" b="1" dirty="0"/>
              <a:t>Key Features:</a:t>
            </a:r>
          </a:p>
          <a:p>
            <a:r>
              <a:rPr lang="en-US" sz="2000" dirty="0"/>
              <a:t>Assign test cases to any user</a:t>
            </a:r>
          </a:p>
          <a:p>
            <a:r>
              <a:rPr lang="en-US" sz="2000" dirty="0"/>
              <a:t>Filter by suite, library, class, method</a:t>
            </a:r>
          </a:p>
          <a:p>
            <a:r>
              <a:rPr lang="en-US" sz="2000" dirty="0"/>
              <a:t>Supports bulk assignment</a:t>
            </a:r>
          </a:p>
          <a:p>
            <a:r>
              <a:rPr lang="en-US" sz="2000" dirty="0"/>
              <a:t>Shows execution count &amp; status</a:t>
            </a:r>
          </a:p>
          <a:p>
            <a:r>
              <a:rPr lang="en-US" sz="2000" dirty="0"/>
              <a:t>Real-time grid with sorting/filtering</a:t>
            </a:r>
          </a:p>
          <a:p>
            <a:r>
              <a:rPr lang="en-US" sz="2000" dirty="0"/>
              <a:t>Prevents duplicate assignments</a:t>
            </a:r>
          </a:p>
          <a:p>
            <a:endParaRPr lang="en-IN" sz="2000" dirty="0"/>
          </a:p>
        </p:txBody>
      </p:sp>
    </p:spTree>
    <p:extLst>
      <p:ext uri="{BB962C8B-B14F-4D97-AF65-F5344CB8AC3E}">
        <p14:creationId xmlns:p14="http://schemas.microsoft.com/office/powerpoint/2010/main" val="3670700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Test Case Assignment.png"/>
          <p:cNvPicPr>
            <a:picLocks noChangeAspect="1"/>
          </p:cNvPicPr>
          <p:nvPr/>
        </p:nvPicPr>
        <p:blipFill>
          <a:blip r:embed="rId2"/>
          <a:stretch>
            <a:fillRect/>
          </a:stretch>
        </p:blipFill>
        <p:spPr>
          <a:xfrm>
            <a:off x="162000" y="1837961"/>
            <a:ext cx="8820000" cy="416870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Test Case Execution Panel</a:t>
            </a:r>
          </a:p>
        </p:txBody>
      </p:sp>
      <p:sp>
        <p:nvSpPr>
          <p:cNvPr id="3" name="Content Placeholder 2"/>
          <p:cNvSpPr>
            <a:spLocks noGrp="1"/>
          </p:cNvSpPr>
          <p:nvPr>
            <p:ph idx="1"/>
          </p:nvPr>
        </p:nvSpPr>
        <p:spPr/>
        <p:txBody>
          <a:bodyPr>
            <a:normAutofit/>
          </a:bodyPr>
          <a:lstStyle/>
          <a:p>
            <a:pPr marL="0" indent="0">
              <a:buNone/>
            </a:pPr>
            <a:r>
              <a:rPr sz="1800" b="1" dirty="0"/>
              <a:t>Overview:</a:t>
            </a:r>
            <a:endParaRPr lang="en-US" sz="1800" b="1" dirty="0"/>
          </a:p>
          <a:p>
            <a:pPr marL="0" indent="0">
              <a:buNone/>
            </a:pPr>
            <a:r>
              <a:rPr lang="en-US" sz="1800" dirty="0"/>
              <a:t>The Execution Panel is the central place where testers run their assigned automation tasks. It displays each test case with details such as method name, priority, attached data, and current status.</a:t>
            </a:r>
            <a:br>
              <a:rPr lang="en-US" sz="1800" dirty="0"/>
            </a:br>
            <a:r>
              <a:rPr lang="en-US" sz="1800" dirty="0"/>
              <a:t>Users can execute tests directly, monitor progress, view logs, and track real-time execution updates. The UI ensures smooth execution flow and minimizes errors.</a:t>
            </a:r>
            <a:endParaRPr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BD3D0-C08B-BE42-5708-83FAEF9D0DB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21DCE1F-ECDA-E7D6-BF6D-46F2A55F3713}"/>
              </a:ext>
            </a:extLst>
          </p:cNvPr>
          <p:cNvSpPr>
            <a:spLocks noGrp="1"/>
          </p:cNvSpPr>
          <p:nvPr>
            <p:ph idx="1"/>
          </p:nvPr>
        </p:nvSpPr>
        <p:spPr/>
        <p:txBody>
          <a:bodyPr>
            <a:normAutofit/>
          </a:bodyPr>
          <a:lstStyle/>
          <a:p>
            <a:pPr marL="0" indent="0">
              <a:buNone/>
            </a:pPr>
            <a:r>
              <a:rPr lang="en-US" sz="2000" b="1" dirty="0"/>
              <a:t>Key Features:</a:t>
            </a:r>
          </a:p>
          <a:p>
            <a:r>
              <a:rPr lang="en-US" sz="2000" dirty="0"/>
              <a:t>Assignment-Based Test Case Loading</a:t>
            </a:r>
          </a:p>
          <a:p>
            <a:r>
              <a:rPr lang="en-US" sz="2000" dirty="0"/>
              <a:t>Auto-Refresh &amp; Live Updates</a:t>
            </a:r>
          </a:p>
          <a:p>
            <a:r>
              <a:rPr lang="en-US" sz="2000" dirty="0"/>
              <a:t>Execution Summary Metrics</a:t>
            </a:r>
          </a:p>
          <a:p>
            <a:r>
              <a:rPr lang="en-US" sz="2000" dirty="0"/>
              <a:t>Bulk Execution Actions</a:t>
            </a:r>
          </a:p>
          <a:p>
            <a:r>
              <a:rPr lang="en-US" sz="2000" dirty="0"/>
              <a:t>One-Click Run Now</a:t>
            </a:r>
          </a:p>
          <a:p>
            <a:r>
              <a:rPr lang="en-US" sz="2000" dirty="0"/>
              <a:t>Test Case Scheduling Single and Bulk</a:t>
            </a:r>
          </a:p>
          <a:p>
            <a:r>
              <a:rPr lang="en-US" sz="2000" dirty="0"/>
              <a:t>Screenshot &amp; Logs Access</a:t>
            </a:r>
          </a:p>
          <a:p>
            <a:r>
              <a:rPr lang="en-US" sz="2000" dirty="0"/>
              <a:t>Real-Time Status Update</a:t>
            </a:r>
          </a:p>
          <a:p>
            <a:r>
              <a:rPr lang="en-US" sz="2000" dirty="0"/>
              <a:t>Role-Based Access Control</a:t>
            </a:r>
          </a:p>
          <a:p>
            <a:r>
              <a:rPr lang="en-US" sz="2000" dirty="0"/>
              <a:t>Environment-Based Execution View</a:t>
            </a:r>
          </a:p>
          <a:p>
            <a:r>
              <a:rPr lang="en-US" sz="2000" dirty="0"/>
              <a:t>Integrated Scheduler &amp; Worker Engine</a:t>
            </a:r>
          </a:p>
          <a:p>
            <a:endParaRPr lang="en-IN" dirty="0"/>
          </a:p>
        </p:txBody>
      </p:sp>
    </p:spTree>
    <p:extLst>
      <p:ext uri="{BB962C8B-B14F-4D97-AF65-F5344CB8AC3E}">
        <p14:creationId xmlns:p14="http://schemas.microsoft.com/office/powerpoint/2010/main" val="33136927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Test Case Execution Panel.png"/>
          <p:cNvPicPr>
            <a:picLocks noChangeAspect="1"/>
          </p:cNvPicPr>
          <p:nvPr/>
        </p:nvPicPr>
        <p:blipFill>
          <a:blip r:embed="rId2"/>
          <a:stretch>
            <a:fillRect/>
          </a:stretch>
        </p:blipFill>
        <p:spPr>
          <a:xfrm>
            <a:off x="457200" y="1508760"/>
            <a:ext cx="8229600" cy="476422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Test Case Execution Summary</a:t>
            </a:r>
          </a:p>
        </p:txBody>
      </p:sp>
      <p:sp>
        <p:nvSpPr>
          <p:cNvPr id="3" name="Content Placeholder 2"/>
          <p:cNvSpPr>
            <a:spLocks noGrp="1"/>
          </p:cNvSpPr>
          <p:nvPr>
            <p:ph idx="1"/>
          </p:nvPr>
        </p:nvSpPr>
        <p:spPr/>
        <p:txBody>
          <a:bodyPr>
            <a:normAutofit/>
          </a:bodyPr>
          <a:lstStyle/>
          <a:p>
            <a:pPr marL="0" indent="0">
              <a:buNone/>
            </a:pPr>
            <a:r>
              <a:rPr sz="1800" b="1" dirty="0"/>
              <a:t>Overview:</a:t>
            </a:r>
            <a:endParaRPr lang="en-US" sz="1800" b="1" dirty="0"/>
          </a:p>
          <a:p>
            <a:pPr marL="0" indent="0">
              <a:buNone/>
            </a:pPr>
            <a:r>
              <a:rPr lang="en-US" sz="1800" dirty="0"/>
              <a:t>The Execution Summary module provides a detailed overview of all completed automation runs. It includes charts, filters, timelines, and run-wise execution details for better analysis.</a:t>
            </a:r>
            <a:br>
              <a:rPr lang="en-US" sz="1800" dirty="0"/>
            </a:br>
            <a:r>
              <a:rPr lang="en-US" sz="1800" dirty="0"/>
              <a:t>Users can track test coverage, pass/fail ratios, execution duration, and identify failed cases quickly. It is highly useful for reporting and QA governance.</a:t>
            </a:r>
            <a:endParaRPr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54DA3-3CF2-77BD-DBB7-1D658658896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5140544-18B5-7303-A1A5-1AC08CA20E20}"/>
              </a:ext>
            </a:extLst>
          </p:cNvPr>
          <p:cNvSpPr>
            <a:spLocks noGrp="1"/>
          </p:cNvSpPr>
          <p:nvPr>
            <p:ph idx="1"/>
          </p:nvPr>
        </p:nvSpPr>
        <p:spPr/>
        <p:txBody>
          <a:bodyPr/>
          <a:lstStyle/>
          <a:p>
            <a:pPr marL="0" indent="0">
              <a:buNone/>
            </a:pPr>
            <a:r>
              <a:rPr lang="en-US" sz="1800" b="1" dirty="0"/>
              <a:t>Key Features:</a:t>
            </a:r>
          </a:p>
          <a:p>
            <a:r>
              <a:rPr lang="en-US" sz="1800" dirty="0"/>
              <a:t>Summary of all runs</a:t>
            </a:r>
          </a:p>
          <a:p>
            <a:r>
              <a:rPr lang="en-US" sz="1800" dirty="0"/>
              <a:t>Pass/Fail/Skipped statistics</a:t>
            </a:r>
          </a:p>
          <a:p>
            <a:r>
              <a:rPr lang="en-US" sz="1800" dirty="0"/>
              <a:t>Timeline-based execution tracking</a:t>
            </a:r>
          </a:p>
          <a:p>
            <a:r>
              <a:rPr lang="en-US" sz="1800" dirty="0"/>
              <a:t>Drilldown into any test method</a:t>
            </a:r>
          </a:p>
          <a:p>
            <a:r>
              <a:rPr lang="en-US" sz="1800" dirty="0"/>
              <a:t>Retry failed test cases</a:t>
            </a:r>
          </a:p>
          <a:p>
            <a:r>
              <a:rPr lang="en-US" sz="1800" dirty="0"/>
              <a:t>Export results for reporting</a:t>
            </a:r>
          </a:p>
          <a:p>
            <a:endParaRPr lang="en-IN" dirty="0"/>
          </a:p>
        </p:txBody>
      </p:sp>
    </p:spTree>
    <p:extLst>
      <p:ext uri="{BB962C8B-B14F-4D97-AF65-F5344CB8AC3E}">
        <p14:creationId xmlns:p14="http://schemas.microsoft.com/office/powerpoint/2010/main" val="32917418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Test Case Execution Summary.png"/>
          <p:cNvPicPr>
            <a:picLocks noChangeAspect="1"/>
          </p:cNvPicPr>
          <p:nvPr/>
        </p:nvPicPr>
        <p:blipFill>
          <a:blip r:embed="rId2"/>
          <a:stretch>
            <a:fillRect/>
          </a:stretch>
        </p:blipFill>
        <p:spPr>
          <a:xfrm>
            <a:off x="119880" y="1618488"/>
            <a:ext cx="8978400" cy="425168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Test Data Management</a:t>
            </a:r>
          </a:p>
        </p:txBody>
      </p:sp>
      <p:sp>
        <p:nvSpPr>
          <p:cNvPr id="3" name="Content Placeholder 2"/>
          <p:cNvSpPr>
            <a:spLocks noGrp="1"/>
          </p:cNvSpPr>
          <p:nvPr>
            <p:ph idx="1"/>
          </p:nvPr>
        </p:nvSpPr>
        <p:spPr/>
        <p:txBody>
          <a:bodyPr>
            <a:normAutofit/>
          </a:bodyPr>
          <a:lstStyle/>
          <a:p>
            <a:pPr marL="0" indent="0">
              <a:buNone/>
            </a:pPr>
            <a:r>
              <a:rPr sz="1800" b="1" dirty="0"/>
              <a:t>Overview:</a:t>
            </a:r>
          </a:p>
          <a:p>
            <a:pPr marL="0" indent="0">
              <a:buNone/>
            </a:pPr>
            <a:r>
              <a:rPr lang="en-US" sz="1800" dirty="0"/>
              <a:t>The Test Data Management module allows QA teams to store and maintain all test-related data in one centralized place.</a:t>
            </a:r>
            <a:br>
              <a:rPr lang="en-US" sz="1800" dirty="0"/>
            </a:br>
            <a:r>
              <a:rPr lang="en-US" sz="1800" dirty="0"/>
              <a:t>Users can create, edit, update, and delete reusable test datasets that are automatically picked up during automation execution. This reduces data duplication and makes test execution more stable.</a:t>
            </a:r>
          </a:p>
          <a:p>
            <a:pPr marL="0" indent="0">
              <a:buNone/>
            </a:pPr>
            <a:endParaRPr lang="en-US" sz="1800" dirty="0"/>
          </a:p>
          <a:p>
            <a:pPr marL="0" indent="0">
              <a:buNone/>
            </a:pPr>
            <a:r>
              <a:rPr lang="en-US" sz="1800" b="1" dirty="0"/>
              <a:t>Key Features:</a:t>
            </a:r>
          </a:p>
          <a:p>
            <a:r>
              <a:rPr lang="en-US" sz="1800" dirty="0"/>
              <a:t>Add/edit/delete test data entries</a:t>
            </a:r>
          </a:p>
          <a:p>
            <a:r>
              <a:rPr lang="en-US" sz="1800" dirty="0"/>
              <a:t>Data linked to libraries &amp; methods</a:t>
            </a:r>
          </a:p>
          <a:p>
            <a:r>
              <a:rPr lang="en-US" sz="1800" dirty="0"/>
              <a:t>Supports dynamic and parameterized values</a:t>
            </a:r>
          </a:p>
          <a:p>
            <a:r>
              <a:rPr lang="en-US" sz="1800" dirty="0"/>
              <a:t>Centralized storage for consistent execution</a:t>
            </a:r>
          </a:p>
          <a:p>
            <a:r>
              <a:rPr lang="en-US" sz="1800" dirty="0"/>
              <a:t>Prevents test failures due to missing data</a:t>
            </a:r>
          </a:p>
          <a:p>
            <a:pPr marL="0" indent="0">
              <a:buNone/>
            </a:pPr>
            <a:endParaRPr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pic>
        <p:nvPicPr>
          <p:cNvPr id="3" name="Picture 2" descr="Test Data Management.png"/>
          <p:cNvPicPr>
            <a:picLocks noChangeAspect="1"/>
          </p:cNvPicPr>
          <p:nvPr/>
        </p:nvPicPr>
        <p:blipFill>
          <a:blip r:embed="rId2"/>
          <a:stretch>
            <a:fillRect/>
          </a:stretch>
        </p:blipFill>
        <p:spPr>
          <a:xfrm>
            <a:off x="82800" y="1728216"/>
            <a:ext cx="8978400" cy="422485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User &amp; Role Management</a:t>
            </a:r>
          </a:p>
        </p:txBody>
      </p:sp>
      <p:sp>
        <p:nvSpPr>
          <p:cNvPr id="3" name="Content Placeholder 2"/>
          <p:cNvSpPr>
            <a:spLocks noGrp="1"/>
          </p:cNvSpPr>
          <p:nvPr>
            <p:ph idx="1"/>
          </p:nvPr>
        </p:nvSpPr>
        <p:spPr/>
        <p:txBody>
          <a:bodyPr>
            <a:normAutofit/>
          </a:bodyPr>
          <a:lstStyle/>
          <a:p>
            <a:pPr marL="0" indent="0">
              <a:buNone/>
            </a:pPr>
            <a:r>
              <a:rPr sz="1800" b="1" dirty="0"/>
              <a:t>Overview:</a:t>
            </a:r>
            <a:endParaRPr lang="en-US" sz="1800" b="1" dirty="0"/>
          </a:p>
          <a:p>
            <a:pPr marL="0" indent="0">
              <a:buNone/>
            </a:pPr>
            <a:r>
              <a:rPr lang="en-US" sz="1800" dirty="0"/>
              <a:t>This module enables administrators to manage users, roles, and access levels. It ensures that each user only sees modules they are authorized to use.</a:t>
            </a:r>
            <a:br>
              <a:rPr lang="en-US" sz="1800" dirty="0"/>
            </a:br>
            <a:r>
              <a:rPr lang="en-US" sz="1800" dirty="0"/>
              <a:t>The system supports creation of custom roles and mapping users to required privileges.</a:t>
            </a:r>
          </a:p>
          <a:p>
            <a:pPr marL="0" indent="0">
              <a:buNone/>
            </a:pPr>
            <a:endParaRPr lang="en-US" sz="1800" b="1" dirty="0"/>
          </a:p>
          <a:p>
            <a:pPr marL="0" indent="0">
              <a:buNone/>
            </a:pPr>
            <a:r>
              <a:rPr lang="en-US" sz="1800" b="1" dirty="0"/>
              <a:t>Key Features:</a:t>
            </a:r>
          </a:p>
          <a:p>
            <a:r>
              <a:rPr lang="en-US" sz="1800" dirty="0"/>
              <a:t>Add/edit/delete users</a:t>
            </a:r>
          </a:p>
          <a:p>
            <a:r>
              <a:rPr lang="en-US" sz="1800" dirty="0"/>
              <a:t>Assign roles &amp; permissions</a:t>
            </a:r>
          </a:p>
          <a:p>
            <a:r>
              <a:rPr lang="en-US" sz="1800" dirty="0"/>
              <a:t>Manage active/inactive status</a:t>
            </a:r>
          </a:p>
          <a:p>
            <a:r>
              <a:rPr lang="en-US" sz="1800" dirty="0"/>
              <a:t>Secure role-based module access</a:t>
            </a:r>
          </a:p>
          <a:p>
            <a:r>
              <a:rPr lang="en-US" sz="1800" dirty="0"/>
              <a:t>Audit-friendly user control</a:t>
            </a:r>
          </a:p>
          <a:p>
            <a:pPr marL="0" indent="0">
              <a:buNone/>
            </a:pPr>
            <a:endParaRPr sz="1800" b="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User &amp; Role Management.png"/>
          <p:cNvPicPr>
            <a:picLocks noChangeAspect="1"/>
          </p:cNvPicPr>
          <p:nvPr/>
        </p:nvPicPr>
        <p:blipFill>
          <a:blip r:embed="rId2"/>
          <a:stretch>
            <a:fillRect/>
          </a:stretch>
        </p:blipFill>
        <p:spPr>
          <a:xfrm>
            <a:off x="82296" y="1691641"/>
            <a:ext cx="8978400" cy="4227057"/>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User Settings</a:t>
            </a:r>
          </a:p>
        </p:txBody>
      </p:sp>
      <p:sp>
        <p:nvSpPr>
          <p:cNvPr id="3" name="Content Placeholder 2"/>
          <p:cNvSpPr>
            <a:spLocks noGrp="1"/>
          </p:cNvSpPr>
          <p:nvPr>
            <p:ph idx="1"/>
          </p:nvPr>
        </p:nvSpPr>
        <p:spPr/>
        <p:txBody>
          <a:bodyPr>
            <a:normAutofit/>
          </a:bodyPr>
          <a:lstStyle/>
          <a:p>
            <a:pPr marL="0" indent="0">
              <a:buNone/>
            </a:pPr>
            <a:r>
              <a:rPr sz="1800" b="1" dirty="0"/>
              <a:t>Overview</a:t>
            </a:r>
            <a:r>
              <a:rPr sz="1800" dirty="0"/>
              <a:t>:</a:t>
            </a:r>
            <a:endParaRPr lang="en-US" sz="1800" dirty="0"/>
          </a:p>
          <a:p>
            <a:pPr marL="0" indent="0">
              <a:buNone/>
            </a:pPr>
            <a:r>
              <a:rPr lang="en-US" sz="1800" dirty="0"/>
              <a:t>The User Settings module allows each user to manage their personal preferences.</a:t>
            </a:r>
            <a:br>
              <a:rPr lang="en-US" sz="1800" dirty="0"/>
            </a:br>
            <a:r>
              <a:rPr lang="en-US" sz="1800" dirty="0"/>
              <a:t>Users can update profile information, password, display preferences, and notification settings.</a:t>
            </a:r>
          </a:p>
          <a:p>
            <a:pPr marL="0" indent="0">
              <a:buNone/>
            </a:pPr>
            <a:endParaRPr lang="en-US" sz="1800" b="1" dirty="0"/>
          </a:p>
          <a:p>
            <a:pPr marL="0" indent="0">
              <a:buNone/>
            </a:pPr>
            <a:r>
              <a:rPr lang="en-US" sz="1800" b="1" dirty="0"/>
              <a:t>Key Features:</a:t>
            </a:r>
          </a:p>
          <a:p>
            <a:r>
              <a:rPr lang="en-US" sz="1800" dirty="0"/>
              <a:t>Update profile information</a:t>
            </a:r>
          </a:p>
          <a:p>
            <a:r>
              <a:rPr lang="en-US" sz="1800" dirty="0"/>
              <a:t>Change password</a:t>
            </a:r>
          </a:p>
          <a:p>
            <a:r>
              <a:rPr lang="en-US" sz="1800" dirty="0"/>
              <a:t>Customize preferences</a:t>
            </a:r>
          </a:p>
          <a:p>
            <a:r>
              <a:rPr lang="en-US" sz="1800" dirty="0"/>
              <a:t>Manage notification settings</a:t>
            </a:r>
          </a:p>
          <a:p>
            <a:pPr marL="0" indent="0">
              <a:buNone/>
            </a:pPr>
            <a:endParaRPr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User Settings.png"/>
          <p:cNvPicPr>
            <a:picLocks noChangeAspect="1"/>
          </p:cNvPicPr>
          <p:nvPr/>
        </p:nvPicPr>
        <p:blipFill>
          <a:blip r:embed="rId2"/>
          <a:stretch>
            <a:fillRect/>
          </a:stretch>
        </p:blipFill>
        <p:spPr>
          <a:xfrm>
            <a:off x="100584" y="1545336"/>
            <a:ext cx="8978400" cy="425910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Pain Points Solved</a:t>
            </a:r>
          </a:p>
        </p:txBody>
      </p:sp>
      <p:sp>
        <p:nvSpPr>
          <p:cNvPr id="3" name="Content Placeholder 2"/>
          <p:cNvSpPr>
            <a:spLocks noGrp="1"/>
          </p:cNvSpPr>
          <p:nvPr>
            <p:ph idx="1"/>
          </p:nvPr>
        </p:nvSpPr>
        <p:spPr/>
        <p:txBody>
          <a:bodyPr>
            <a:normAutofit/>
          </a:bodyPr>
          <a:lstStyle/>
          <a:p>
            <a:pPr marL="0" indent="0">
              <a:buNone/>
            </a:pPr>
            <a:r>
              <a:rPr sz="2000" dirty="0"/>
              <a:t>✔ No more Excel‑based test case tracking</a:t>
            </a:r>
          </a:p>
          <a:p>
            <a:pPr marL="0" indent="0">
              <a:buNone/>
            </a:pPr>
            <a:r>
              <a:rPr sz="2000" dirty="0"/>
              <a:t>✔ Full visibility of execution in real time</a:t>
            </a:r>
          </a:p>
          <a:p>
            <a:pPr marL="0" indent="0">
              <a:buNone/>
            </a:pPr>
            <a:r>
              <a:rPr sz="2000" dirty="0"/>
              <a:t>✔ Reduced manual coordination</a:t>
            </a:r>
          </a:p>
          <a:p>
            <a:pPr marL="0" indent="0">
              <a:buNone/>
            </a:pPr>
            <a:r>
              <a:rPr sz="2000" dirty="0"/>
              <a:t>✔ Centralized repository for test data</a:t>
            </a:r>
          </a:p>
          <a:p>
            <a:pPr marL="0" indent="0">
              <a:buNone/>
            </a:pPr>
            <a:r>
              <a:rPr sz="2000" dirty="0"/>
              <a:t>✔ Better user accountability</a:t>
            </a:r>
          </a:p>
          <a:p>
            <a:pPr marL="0" indent="0">
              <a:buNone/>
            </a:pPr>
            <a:r>
              <a:rPr sz="2000" dirty="0"/>
              <a:t>✔ Simplified QA governance</a:t>
            </a:r>
          </a:p>
          <a:p>
            <a:endParaRPr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96378"/>
          </a:xfrm>
        </p:spPr>
        <p:txBody>
          <a:bodyPr/>
          <a:lstStyle/>
          <a:p>
            <a:r>
              <a:rPr dirty="0"/>
              <a:t>Tech Stack</a:t>
            </a:r>
          </a:p>
        </p:txBody>
      </p:sp>
      <p:sp>
        <p:nvSpPr>
          <p:cNvPr id="3" name="Content Placeholder 2"/>
          <p:cNvSpPr>
            <a:spLocks noGrp="1"/>
          </p:cNvSpPr>
          <p:nvPr>
            <p:ph idx="1"/>
          </p:nvPr>
        </p:nvSpPr>
        <p:spPr>
          <a:xfrm>
            <a:off x="457200" y="1271016"/>
            <a:ext cx="8229600" cy="4736592"/>
          </a:xfrm>
        </p:spPr>
        <p:txBody>
          <a:bodyPr>
            <a:noAutofit/>
          </a:bodyPr>
          <a:lstStyle/>
          <a:p>
            <a:pPr marL="0" indent="0">
              <a:buNone/>
            </a:pPr>
            <a:r>
              <a:rPr sz="1700" b="1" dirty="0"/>
              <a:t>Frontend:</a:t>
            </a:r>
          </a:p>
          <a:p>
            <a:pPr marL="0" indent="0">
              <a:buNone/>
            </a:pPr>
            <a:r>
              <a:rPr sz="1700" dirty="0"/>
              <a:t>• Angular 1</a:t>
            </a:r>
            <a:r>
              <a:rPr lang="en-US" sz="1700" dirty="0"/>
              <a:t>9</a:t>
            </a:r>
            <a:r>
              <a:rPr sz="1700" dirty="0"/>
              <a:t>+ (Standalone Components)</a:t>
            </a:r>
          </a:p>
          <a:p>
            <a:pPr marL="0" indent="0">
              <a:buNone/>
            </a:pPr>
            <a:r>
              <a:rPr sz="1700" dirty="0"/>
              <a:t>• Bootstrap 5</a:t>
            </a:r>
          </a:p>
          <a:p>
            <a:pPr marL="0" indent="0">
              <a:buNone/>
            </a:pPr>
            <a:r>
              <a:rPr sz="1700" b="1" dirty="0"/>
              <a:t>Backend:</a:t>
            </a:r>
          </a:p>
          <a:p>
            <a:pPr marL="0" indent="0">
              <a:buNone/>
            </a:pPr>
            <a:r>
              <a:rPr sz="1700" dirty="0"/>
              <a:t>• ASP.NET Core Web API</a:t>
            </a:r>
          </a:p>
          <a:p>
            <a:pPr marL="0" indent="0">
              <a:buNone/>
            </a:pPr>
            <a:r>
              <a:rPr sz="1700" dirty="0"/>
              <a:t>• </a:t>
            </a:r>
            <a:r>
              <a:rPr lang="en-US" sz="1700" dirty="0"/>
              <a:t>Micro services Repository pattern</a:t>
            </a:r>
            <a:endParaRPr sz="1700" dirty="0"/>
          </a:p>
          <a:p>
            <a:pPr marL="0" indent="0">
              <a:buNone/>
            </a:pPr>
            <a:r>
              <a:rPr sz="1700" b="1" dirty="0"/>
              <a:t>Execution Layer:</a:t>
            </a:r>
          </a:p>
          <a:p>
            <a:pPr marL="0" indent="0">
              <a:buNone/>
            </a:pPr>
            <a:r>
              <a:rPr sz="1700" dirty="0"/>
              <a:t>• Worker Service</a:t>
            </a:r>
          </a:p>
          <a:p>
            <a:pPr marL="0" indent="0">
              <a:buNone/>
            </a:pPr>
            <a:r>
              <a:rPr sz="1700" dirty="0"/>
              <a:t>• Selenium/Playwright (optional)</a:t>
            </a:r>
          </a:p>
          <a:p>
            <a:pPr marL="0" indent="0">
              <a:buNone/>
            </a:pPr>
            <a:r>
              <a:rPr sz="1700" b="1" dirty="0"/>
              <a:t>Database:</a:t>
            </a:r>
          </a:p>
          <a:p>
            <a:pPr marL="0" indent="0">
              <a:buNone/>
            </a:pPr>
            <a:r>
              <a:rPr sz="1700" dirty="0"/>
              <a:t>• SQL Server</a:t>
            </a:r>
          </a:p>
          <a:p>
            <a:pPr marL="0" indent="0">
              <a:buNone/>
            </a:pPr>
            <a:r>
              <a:rPr sz="1700" dirty="0"/>
              <a:t>• Stored Procedures</a:t>
            </a:r>
          </a:p>
          <a:p>
            <a:pPr marL="0" indent="0">
              <a:buNone/>
            </a:pPr>
            <a:r>
              <a:rPr sz="1700" b="1" dirty="0"/>
              <a:t>Security:</a:t>
            </a:r>
          </a:p>
          <a:p>
            <a:pPr marL="0" indent="0">
              <a:buNone/>
            </a:pPr>
            <a:r>
              <a:rPr sz="1700" dirty="0"/>
              <a:t>• JWT Authentication</a:t>
            </a:r>
          </a:p>
          <a:p>
            <a:pPr marL="0" indent="0">
              <a:buNone/>
            </a:pPr>
            <a:r>
              <a:rPr sz="1700" dirty="0"/>
              <a:t>• Role-based Access Control</a:t>
            </a:r>
          </a:p>
          <a:p>
            <a:endParaRPr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Roadmap</a:t>
            </a:r>
          </a:p>
        </p:txBody>
      </p:sp>
      <p:sp>
        <p:nvSpPr>
          <p:cNvPr id="3" name="Content Placeholder 2"/>
          <p:cNvSpPr>
            <a:spLocks noGrp="1"/>
          </p:cNvSpPr>
          <p:nvPr>
            <p:ph idx="1"/>
          </p:nvPr>
        </p:nvSpPr>
        <p:spPr/>
        <p:txBody>
          <a:bodyPr>
            <a:normAutofit/>
          </a:bodyPr>
          <a:lstStyle/>
          <a:p>
            <a:r>
              <a:rPr sz="1800" dirty="0"/>
              <a:t>🚀 AI-driven test case recommendations</a:t>
            </a:r>
          </a:p>
          <a:p>
            <a:r>
              <a:rPr sz="1800" dirty="0"/>
              <a:t>🚀 Self-healing automation scripts</a:t>
            </a:r>
          </a:p>
          <a:p>
            <a:r>
              <a:rPr sz="1800" dirty="0"/>
              <a:t>🚀 Real-time streaming of execution logs</a:t>
            </a:r>
          </a:p>
          <a:p>
            <a:r>
              <a:rPr sz="1800" dirty="0"/>
              <a:t>🚀 Advanced reporting &amp; dashboard builder</a:t>
            </a:r>
          </a:p>
          <a:p>
            <a:r>
              <a:rPr sz="1800" dirty="0"/>
              <a:t>🚀 Mobile app for approvals &amp; execution status</a:t>
            </a:r>
            <a:r>
              <a:rPr lang="en-US" sz="1800" dirty="0"/>
              <a:t> (Proposal)</a:t>
            </a:r>
            <a:endParaRPr sz="1800" dirty="0"/>
          </a:p>
          <a:p>
            <a:r>
              <a:rPr sz="1800" dirty="0"/>
              <a:t>🚀 Azure DevOps/GitHub Actions CI-CD integration</a:t>
            </a:r>
          </a:p>
          <a:p>
            <a:endParaRPr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TotalTime>
  <Words>951</Words>
  <Application>Microsoft Office PowerPoint</Application>
  <PresentationFormat>On-screen Show (4:3)</PresentationFormat>
  <Paragraphs>136</Paragraphs>
  <Slides>27</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Automation Portal</vt:lpstr>
      <vt:lpstr>Product Overview</vt:lpstr>
      <vt:lpstr>Modules</vt:lpstr>
      <vt:lpstr>Login Page</vt:lpstr>
      <vt:lpstr>PowerPoint Presentation</vt:lpstr>
      <vt:lpstr>PowerPoint Presentation</vt:lpstr>
      <vt:lpstr>Registration</vt:lpstr>
      <vt:lpstr>PowerPoint Presentation</vt:lpstr>
      <vt:lpstr>PowerPoint Presentation</vt:lpstr>
      <vt:lpstr>Test Case Assignment</vt:lpstr>
      <vt:lpstr>PowerPoint Presentation</vt:lpstr>
      <vt:lpstr>PowerPoint Presentation</vt:lpstr>
      <vt:lpstr>Test Case Execution Panel</vt:lpstr>
      <vt:lpstr>PowerPoint Presentation</vt:lpstr>
      <vt:lpstr>PowerPoint Presentation</vt:lpstr>
      <vt:lpstr>Test Case Execution Summary</vt:lpstr>
      <vt:lpstr>PowerPoint Presentation</vt:lpstr>
      <vt:lpstr>PowerPoint Presentation</vt:lpstr>
      <vt:lpstr>Test Data Management</vt:lpstr>
      <vt:lpstr>PowerPoint Presentation</vt:lpstr>
      <vt:lpstr>User &amp; Role Management</vt:lpstr>
      <vt:lpstr>PowerPoint Presentation</vt:lpstr>
      <vt:lpstr>User Settings</vt:lpstr>
      <vt:lpstr>PowerPoint Presentation</vt:lpstr>
      <vt:lpstr>Pain Points Solved</vt:lpstr>
      <vt:lpstr>Tech Stack</vt:lpstr>
      <vt:lpstr>Future Roadmap</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 Naresh Babu</cp:lastModifiedBy>
  <cp:revision>85</cp:revision>
  <dcterms:created xsi:type="dcterms:W3CDTF">2013-01-27T09:14:16Z</dcterms:created>
  <dcterms:modified xsi:type="dcterms:W3CDTF">2025-12-10T15:31:55Z</dcterms:modified>
  <cp:category/>
</cp:coreProperties>
</file>