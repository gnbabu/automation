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51560"/>
            <a:ext cx="10835640" cy="1965960"/>
          </a:xfrm>
          <a:prstGeom prst="roundRect">
            <a:avLst/>
          </a:prstGeom>
          <a:solidFill>
            <a:srgbClr val="12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78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900" b="1">
                <a:solidFill>
                  <a:srgbClr val="FFFFFF"/>
                </a:solidFill>
              </a:defRPr>
            </a:pPr>
            <a:r>
              <a:t>Release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12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DCE8F8"/>
                </a:solidFill>
              </a:defRPr>
            </a:pPr>
            <a:r>
              <a:t>High-Level Design, Existing Flow &amp; Functional Explanation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77639"/>
            <a:ext cx="1417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286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78808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2868B1"/>
                </a:solidFill>
              </a:defRPr>
            </a:pPr>
            <a:r>
              <a:t>Create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31720" y="4297680"/>
            <a:ext cx="374904" cy="0"/>
          </a:xfrm>
          <a:prstGeom prst="line">
            <a:avLst/>
          </a:prstGeom>
          <a:ln w="21590">
            <a:solidFill>
              <a:srgbClr val="2868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3977639"/>
            <a:ext cx="1417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C8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4178808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1C8B97"/>
                </a:solidFill>
              </a:defRPr>
            </a:pPr>
            <a:r>
              <a:t>Prepare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60520" y="4297680"/>
            <a:ext cx="374904" cy="0"/>
          </a:xfrm>
          <a:prstGeom prst="line">
            <a:avLst/>
          </a:prstGeom>
          <a:ln w="21590">
            <a:solidFill>
              <a:srgbClr val="2868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0" y="3977639"/>
            <a:ext cx="1417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67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178808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674A96"/>
                </a:solidFill>
              </a:defRPr>
            </a:pPr>
            <a:r>
              <a:t>Validate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89320" y="4297680"/>
            <a:ext cx="374904" cy="0"/>
          </a:xfrm>
          <a:prstGeom prst="line">
            <a:avLst/>
          </a:prstGeom>
          <a:ln w="21590">
            <a:solidFill>
              <a:srgbClr val="2868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0" y="3977639"/>
            <a:ext cx="1417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459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78808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45914A"/>
                </a:solidFill>
              </a:defRPr>
            </a:pPr>
            <a:r>
              <a:t>Activate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18120" y="4297680"/>
            <a:ext cx="374904" cy="0"/>
          </a:xfrm>
          <a:prstGeom prst="line">
            <a:avLst/>
          </a:prstGeom>
          <a:ln w="21590">
            <a:solidFill>
              <a:srgbClr val="2868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29600" y="3977639"/>
            <a:ext cx="1417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E8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178808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DE8021"/>
                </a:solidFill>
              </a:defRPr>
            </a:pPr>
            <a:r>
              <a:t>Assign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646920" y="4297680"/>
            <a:ext cx="374904" cy="0"/>
          </a:xfrm>
          <a:prstGeom prst="line">
            <a:avLst/>
          </a:prstGeom>
          <a:ln w="21590">
            <a:solidFill>
              <a:srgbClr val="2868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58400" y="3977639"/>
            <a:ext cx="1417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23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4178808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12305B"/>
                </a:solidFill>
              </a:defRPr>
            </a:pPr>
            <a:r>
              <a:t>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0749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28313F"/>
                </a:solidFill>
              </a:defRPr>
            </a:pPr>
            <a:r>
              <a:t>A controlled gate from release creation through binary readiness and test preparation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B"/>
                </a:solidFill>
                <a:latin typeface="Aptos Display"/>
              </a:defRPr>
            </a:pPr>
            <a:r>
              <a:t>Presentation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C7E"/>
                </a:solidFill>
              </a:defRPr>
            </a:pPr>
            <a:r>
              <a:t>What this design explains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73152" cy="4526280"/>
          </a:xfrm>
          <a:prstGeom prst="rect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36192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2868B1"/>
                </a:solidFill>
              </a:defRPr>
            </a:pPr>
            <a:r>
              <a:t>Business / Functional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9834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8313F"/>
                </a:solidFill>
              </a:defRPr>
            </a:pPr>
            <a:r>
              <a:t>• What happens when a release is created</a:t>
            </a:r>
          </a:p>
          <a:p>
            <a:pPr>
              <a:spcAft>
                <a:spcPts val="600"/>
              </a:spcAft>
              <a:defRPr sz="1200">
                <a:solidFill>
                  <a:srgbClr val="28313F"/>
                </a:solidFill>
              </a:defRPr>
            </a:pPr>
            <a:r>
              <a:t>• How the release folder is prepared</a:t>
            </a:r>
          </a:p>
          <a:p>
            <a:pPr>
              <a:spcAft>
                <a:spcPts val="600"/>
              </a:spcAft>
              <a:defRPr sz="1200">
                <a:solidFill>
                  <a:srgbClr val="28313F"/>
                </a:solidFill>
              </a:defRPr>
            </a:pPr>
            <a:r>
              <a:t>• How Development Manager is notified</a:t>
            </a:r>
          </a:p>
          <a:p>
            <a:pPr>
              <a:spcAft>
                <a:spcPts val="600"/>
              </a:spcAft>
              <a:defRPr sz="1200">
                <a:solidFill>
                  <a:srgbClr val="28313F"/>
                </a:solidFill>
              </a:defRPr>
            </a:pPr>
            <a:r>
              <a:t>• How DLL availability is checked</a:t>
            </a:r>
          </a:p>
          <a:p>
            <a:pPr>
              <a:spcAft>
                <a:spcPts val="600"/>
              </a:spcAft>
              <a:defRPr sz="1200">
                <a:solidFill>
                  <a:srgbClr val="28313F"/>
                </a:solidFill>
              </a:defRPr>
            </a:pPr>
            <a:r>
              <a:t>• When and why a release becomes Active</a:t>
            </a:r>
          </a:p>
          <a:p>
            <a:pPr>
              <a:spcAft>
                <a:spcPts val="600"/>
              </a:spcAft>
              <a:defRPr sz="1200">
                <a:solidFill>
                  <a:srgbClr val="28313F"/>
                </a:solidFill>
              </a:defRPr>
            </a:pPr>
            <a:r>
              <a:t>• How Test Manager uses the active release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73152" cy="4526280"/>
          </a:xfrm>
          <a:prstGeom prst="rect">
            <a:avLst/>
          </a:prstGeom>
          <a:solidFill>
            <a:srgbClr val="1C8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36192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C8B97"/>
                </a:solidFill>
              </a:defRPr>
            </a:pPr>
            <a:r>
              <a:t>Technical / Design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49834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8313F"/>
                </a:solidFill>
              </a:defRPr>
            </a:pPr>
            <a:r>
              <a:t>• Release lifecycle and state transitions</a:t>
            </a:r>
          </a:p>
          <a:p>
            <a:pPr>
              <a:spcAft>
                <a:spcPts val="600"/>
              </a:spcAft>
              <a:defRPr sz="1200">
                <a:solidFill>
                  <a:srgbClr val="28313F"/>
                </a:solidFill>
              </a:defRPr>
            </a:pPr>
            <a:r>
              <a:t>• Application and service responsibilities</a:t>
            </a:r>
          </a:p>
          <a:p>
            <a:pPr>
              <a:spcAft>
                <a:spcPts val="600"/>
              </a:spcAft>
              <a:defRPr sz="1200">
                <a:solidFill>
                  <a:srgbClr val="28313F"/>
                </a:solidFill>
              </a:defRPr>
            </a:pPr>
            <a:r>
              <a:t>• File-system / network-share interaction</a:t>
            </a:r>
          </a:p>
          <a:p>
            <a:pPr>
              <a:spcAft>
                <a:spcPts val="600"/>
              </a:spcAft>
              <a:defRPr sz="1200">
                <a:solidFill>
                  <a:srgbClr val="28313F"/>
                </a:solidFill>
              </a:defRPr>
            </a:pPr>
            <a:r>
              <a:t>• Release-to-DLL-to-test traceability</a:t>
            </a:r>
          </a:p>
          <a:p>
            <a:pPr>
              <a:spcAft>
                <a:spcPts val="600"/>
              </a:spcAft>
              <a:defRPr sz="1200">
                <a:solidFill>
                  <a:srgbClr val="28313F"/>
                </a:solidFill>
              </a:defRPr>
            </a:pPr>
            <a:r>
              <a:t>• Role-based responsibilities</a:t>
            </a:r>
          </a:p>
          <a:p>
            <a:pPr>
              <a:spcAft>
                <a:spcPts val="600"/>
              </a:spcAft>
              <a:defRPr sz="1200">
                <a:solidFill>
                  <a:srgbClr val="28313F"/>
                </a:solidFill>
              </a:defRPr>
            </a:pPr>
            <a:r>
              <a:t>• Configuration and environment considerations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C7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B"/>
                </a:solidFill>
                <a:latin typeface="Aptos Display"/>
              </a:defRPr>
            </a:pPr>
            <a:r>
              <a:t>End-to-End Release Management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C7E"/>
                </a:solidFill>
              </a:defRPr>
            </a:pPr>
            <a:r>
              <a:t>One view of the complete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_clean_infographic_diagram_on_a_white_backgro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11155680" cy="7437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C7E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B"/>
                </a:solidFill>
                <a:latin typeface="Aptos Display"/>
              </a:defRPr>
            </a:pPr>
            <a:r>
              <a:t>Release Lifecycle — Detailed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C7E"/>
                </a:solidFill>
              </a:defRPr>
            </a:pPr>
            <a:r>
              <a:t>The release progresses through controlled gates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490472"/>
            <a:ext cx="384048" cy="384048"/>
          </a:xfrm>
          <a:prstGeom prst="ellipse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4533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1481328"/>
            <a:ext cx="1920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305B"/>
                </a:solidFill>
              </a:defRPr>
            </a:pPr>
            <a:r>
              <a:t>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993392"/>
            <a:ext cx="227685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C7E"/>
                </a:solidFill>
              </a:defRPr>
            </a:pPr>
            <a:r>
              <a:t>Release Manager creates the release with required business and technical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37160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93008" y="1490472"/>
            <a:ext cx="384048" cy="384048"/>
          </a:xfrm>
          <a:prstGeom prst="ellipse">
            <a:avLst/>
          </a:prstGeom>
          <a:solidFill>
            <a:srgbClr val="1C8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154533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9352" y="1481328"/>
            <a:ext cx="1920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305B"/>
                </a:solidFill>
              </a:defRPr>
            </a:pPr>
            <a:r>
              <a:t>Prepare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1993392"/>
            <a:ext cx="227685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C7E"/>
                </a:solidFill>
              </a:defRPr>
            </a:pPr>
            <a:r>
              <a:t>System persists release data and creates a dedicated release folder.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7160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27648" y="1490472"/>
            <a:ext cx="384048" cy="384048"/>
          </a:xfrm>
          <a:prstGeom prst="ellipse">
            <a:avLst/>
          </a:prstGeom>
          <a:solidFill>
            <a:srgbClr val="674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54533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1481328"/>
            <a:ext cx="1920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305B"/>
                </a:solidFill>
              </a:defRPr>
            </a:pPr>
            <a:r>
              <a:t>Notify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1993392"/>
            <a:ext cx="227685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C7E"/>
                </a:solidFill>
              </a:defRPr>
            </a:pPr>
            <a:r>
              <a:t>System sends an email to the Development Manager with release/folder information.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37160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62288" y="1490472"/>
            <a:ext cx="384048" cy="384048"/>
          </a:xfrm>
          <a:prstGeom prst="ellipse">
            <a:avLst/>
          </a:prstGeom>
          <a:solidFill>
            <a:srgbClr val="DE8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62288" y="154533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1481328"/>
            <a:ext cx="1920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305B"/>
                </a:solidFill>
              </a:defRPr>
            </a:pPr>
            <a:r>
              <a:t>Upload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1993392"/>
            <a:ext cx="227685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C7E"/>
                </a:solidFill>
              </a:defRPr>
            </a:pPr>
            <a:r>
              <a:t>Development Manager manually uploads required DLLs into the release folder.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78892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8" y="2907791"/>
            <a:ext cx="384048" cy="384048"/>
          </a:xfrm>
          <a:prstGeom prst="ellipse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296265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" y="2898648"/>
            <a:ext cx="1920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305B"/>
                </a:solidFill>
              </a:defRPr>
            </a:pPr>
            <a:r>
              <a:t>Validate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3410712"/>
            <a:ext cx="227685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C7E"/>
                </a:solidFill>
              </a:defRPr>
            </a:pPr>
            <a:r>
              <a:t>System checks the release folder against the expected DLL set.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278892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93008" y="2907791"/>
            <a:ext cx="384048" cy="384048"/>
          </a:xfrm>
          <a:prstGeom prst="ellipse">
            <a:avLst/>
          </a:prstGeom>
          <a:solidFill>
            <a:srgbClr val="45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93008" y="296265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59352" y="2898648"/>
            <a:ext cx="1920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305B"/>
                </a:solidFill>
              </a:defRPr>
            </a:pPr>
            <a:r>
              <a:t>Activate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7872" y="3410712"/>
            <a:ext cx="227685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C7E"/>
                </a:solidFill>
              </a:defRPr>
            </a:pPr>
            <a:r>
              <a:t>When validation succeeds, the release is activated and becomes test-ready.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278892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27648" y="2907791"/>
            <a:ext cx="384048" cy="384048"/>
          </a:xfrm>
          <a:prstGeom prst="ellipse">
            <a:avLst/>
          </a:prstGeom>
          <a:solidFill>
            <a:srgbClr val="674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296265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93992" y="2898648"/>
            <a:ext cx="1920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305B"/>
                </a:solidFill>
              </a:defRPr>
            </a:pPr>
            <a:r>
              <a:t>Assign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3410712"/>
            <a:ext cx="227685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C7E"/>
                </a:solidFill>
              </a:defRPr>
            </a:pPr>
            <a:r>
              <a:t>Test Manager assigns test cases and maps DLLs/test methods.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2560" y="278892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162288" y="2907791"/>
            <a:ext cx="384048" cy="384048"/>
          </a:xfrm>
          <a:prstGeom prst="ellipse">
            <a:avLst/>
          </a:prstGeom>
          <a:solidFill>
            <a:srgbClr val="12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62288" y="296265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28632" y="2898648"/>
            <a:ext cx="1920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305B"/>
                </a:solidFill>
              </a:defRPr>
            </a:pPr>
            <a:r>
              <a:t>Execute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7152" y="3410712"/>
            <a:ext cx="2276856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C7E"/>
                </a:solidFill>
              </a:defRPr>
            </a:pPr>
            <a:r>
              <a:t>Tester executes the assigned test methods.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154680" y="1938528"/>
            <a:ext cx="228600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989320" y="1938528"/>
            <a:ext cx="228600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823960" y="1938528"/>
            <a:ext cx="228600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154680" y="3355848"/>
            <a:ext cx="228600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989320" y="3355848"/>
            <a:ext cx="228600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823960" y="3355848"/>
            <a:ext cx="228600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822960" y="4617720"/>
            <a:ext cx="10469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960" y="4617720"/>
            <a:ext cx="73152" cy="1143000"/>
          </a:xfrm>
          <a:prstGeom prst="rect">
            <a:avLst/>
          </a:prstGeom>
          <a:solidFill>
            <a:srgbClr val="45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1560" y="478231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45914A"/>
                </a:solidFill>
              </a:defRPr>
            </a:pPr>
            <a:r>
              <a:t>Core Gate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" y="5257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28313F"/>
                </a:solidFill>
              </a:defRPr>
            </a:pPr>
            <a:r>
              <a:t>• A release should not become available for testing until the required DLL set has been successfully validated.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C7E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B"/>
                </a:solidFill>
                <a:latin typeface="Aptos Display"/>
              </a:defRPr>
            </a:pPr>
            <a:r>
              <a:t>1. Create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C7E"/>
                </a:solidFill>
              </a:defRPr>
            </a:pPr>
            <a:r>
              <a:t>Release creation establishes the master release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743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1536192"/>
            <a:ext cx="384048" cy="384048"/>
          </a:xfrm>
          <a:prstGeom prst="ellipse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9105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1527048"/>
            <a:ext cx="2057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305B"/>
                </a:solidFill>
              </a:defRPr>
            </a:pPr>
            <a:r>
              <a:t>Enter Release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39112"/>
            <a:ext cx="24140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C7E"/>
                </a:solidFill>
              </a:defRPr>
            </a:pPr>
            <a:r>
              <a:t>Release Manager provides application, version, release information and other configured attributes.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417320"/>
            <a:ext cx="2743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21608" y="1536192"/>
            <a:ext cx="384048" cy="384048"/>
          </a:xfrm>
          <a:prstGeom prst="ellipse">
            <a:avLst/>
          </a:prstGeom>
          <a:solidFill>
            <a:srgbClr val="1C8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21608" y="159105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1527048"/>
            <a:ext cx="2057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305B"/>
                </a:solidFill>
              </a:defRPr>
            </a:pPr>
            <a:r>
              <a:t>Save Release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2039112"/>
            <a:ext cx="24140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C7E"/>
                </a:solidFill>
              </a:defRPr>
            </a:pPr>
            <a:r>
              <a:t>Application persists the release and assigns its initial lifecycle status.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417320"/>
            <a:ext cx="2743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93408" y="1536192"/>
            <a:ext cx="384048" cy="384048"/>
          </a:xfrm>
          <a:prstGeom prst="ellipse">
            <a:avLst/>
          </a:prstGeom>
          <a:solidFill>
            <a:srgbClr val="45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8" y="159105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9752" y="1527048"/>
            <a:ext cx="2057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305B"/>
                </a:solidFill>
              </a:defRPr>
            </a:pPr>
            <a:r>
              <a:t>Create Folder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2039112"/>
            <a:ext cx="241401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C7E"/>
                </a:solidFill>
              </a:defRPr>
            </a:pPr>
            <a:r>
              <a:t>A dedicated physical release location is created for the release.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83280" y="2103120"/>
            <a:ext cx="201168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355080" y="2103120"/>
            <a:ext cx="201168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77240" y="3246120"/>
            <a:ext cx="51663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246120"/>
            <a:ext cx="73152" cy="2148840"/>
          </a:xfrm>
          <a:prstGeom prst="rect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41071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2868B1"/>
                </a:solidFill>
              </a:defRPr>
            </a:pPr>
            <a:r>
              <a:t>Release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8862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Release identifier / release name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Application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Version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Environment / target configuration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Description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Created By / Created On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Status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246120"/>
            <a:ext cx="51663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246120"/>
            <a:ext cx="73152" cy="2148840"/>
          </a:xfrm>
          <a:prstGeom prst="rect">
            <a:avLst/>
          </a:prstGeom>
          <a:solidFill>
            <a:srgbClr val="12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41071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305B"/>
                </a:solidFill>
              </a:defRPr>
            </a:pPr>
            <a:r>
              <a:t>Why the Release Record Matters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8862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Provides the master key for downstream DLL and test relationships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Controls lifecycle state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Supports traceability and audit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Connects logical release data with the physical release folder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C7E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B"/>
                </a:solidFill>
                <a:latin typeface="Aptos Display"/>
              </a:defRPr>
            </a:pPr>
            <a:r>
              <a:t>2. Release Folder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C7E"/>
                </a:solidFill>
              </a:defRPr>
            </a:pPr>
            <a:r>
              <a:t>The logical release is paired with a physical file location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4572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73152" cy="4526280"/>
          </a:xfrm>
          <a:prstGeom prst="rect">
            <a:avLst/>
          </a:prstGeom>
          <a:solidFill>
            <a:srgbClr val="45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4160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45914A"/>
                </a:solidFill>
              </a:defRPr>
            </a:pPr>
            <a:r>
              <a:t>Folder Responsibilities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4160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8313F"/>
                </a:solidFill>
              </a:defRPr>
            </a:pPr>
            <a:r>
              <a:t>• Create one dedicated location per release</a:t>
            </a:r>
          </a:p>
          <a:p>
            <a:pPr>
              <a:spcAft>
                <a:spcPts val="600"/>
              </a:spcAft>
              <a:defRPr sz="1200">
                <a:solidFill>
                  <a:srgbClr val="28313F"/>
                </a:solidFill>
              </a:defRPr>
            </a:pPr>
            <a:r>
              <a:t>• Keep binaries isolated between releases</a:t>
            </a:r>
          </a:p>
          <a:p>
            <a:pPr>
              <a:spcAft>
                <a:spcPts val="600"/>
              </a:spcAft>
              <a:defRPr sz="1200">
                <a:solidFill>
                  <a:srgbClr val="28313F"/>
                </a:solidFill>
              </a:defRPr>
            </a:pPr>
            <a:r>
              <a:t>• Provide a predictable location for manual DLL upload</a:t>
            </a:r>
          </a:p>
          <a:p>
            <a:pPr>
              <a:spcAft>
                <a:spcPts val="600"/>
              </a:spcAft>
              <a:defRPr sz="1200">
                <a:solidFill>
                  <a:srgbClr val="28313F"/>
                </a:solidFill>
              </a:defRPr>
            </a:pPr>
            <a:r>
              <a:t>• Allow the system to inspect the release contents</a:t>
            </a:r>
          </a:p>
          <a:p>
            <a:pPr>
              <a:spcAft>
                <a:spcPts val="600"/>
              </a:spcAft>
              <a:defRPr sz="1200">
                <a:solidFill>
                  <a:srgbClr val="28313F"/>
                </a:solidFill>
              </a:defRPr>
            </a:pPr>
            <a:r>
              <a:t>• Support release-specific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0" y="1325880"/>
            <a:ext cx="612648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57276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2305B"/>
                </a:solidFill>
              </a:defRPr>
            </a:pPr>
            <a:r>
              <a:t>Example release folder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057400"/>
            <a:ext cx="4846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2305B"/>
                </a:solidFill>
              </a:defRPr>
            </a:pPr>
            <a:r>
              <a:t>📁 Release Root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514600"/>
            <a:ext cx="4343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868B1"/>
                </a:solidFill>
              </a:defRPr>
            </a:pPr>
            <a:r>
              <a:t>📁 Release_1001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79" y="2880360"/>
            <a:ext cx="38404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E6C7E"/>
                </a:solidFill>
              </a:defRPr>
            </a:pPr>
            <a:r>
              <a:t>• DLL1.dll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79" y="3218688"/>
            <a:ext cx="38404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E6C7E"/>
                </a:solidFill>
              </a:defRPr>
            </a:pPr>
            <a:r>
              <a:t>• DLL2.dll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79" y="3557016"/>
            <a:ext cx="38404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E6C7E"/>
                </a:solidFill>
              </a:defRPr>
            </a:pPr>
            <a:r>
              <a:t>• DLL3.dll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3977639"/>
            <a:ext cx="4343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868B1"/>
                </a:solidFill>
              </a:defRPr>
            </a:pPr>
            <a:r>
              <a:t>📁 Release_1002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79" y="4343400"/>
            <a:ext cx="38404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E6C7E"/>
                </a:solidFill>
              </a:defRPr>
            </a:pPr>
            <a:r>
              <a:t>• DLL1.dll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79" y="4681728"/>
            <a:ext cx="384047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5E6C7E"/>
                </a:solidFill>
              </a:defRPr>
            </a:pPr>
            <a:r>
              <a:t>• DLL2.dll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C7E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B"/>
                </a:solidFill>
                <a:latin typeface="Aptos Display"/>
              </a:defRPr>
            </a:pPr>
            <a:r>
              <a:t>3. Development Manager Notification &amp; DLL Upload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C7E"/>
                </a:solidFill>
              </a:defRPr>
            </a:pPr>
            <a:r>
              <a:t>The hand-off from release preparation to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4088" y="1536192"/>
            <a:ext cx="384048" cy="384048"/>
          </a:xfrm>
          <a:prstGeom prst="ellipse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9105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527048"/>
            <a:ext cx="164591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305B"/>
                </a:solidFill>
              </a:defRPr>
            </a:pPr>
            <a:r>
              <a:t>Release Ready for 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39112"/>
            <a:ext cx="200253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C7E"/>
                </a:solidFill>
              </a:defRPr>
            </a:pPr>
            <a:r>
              <a:t>System knows the release and folder location.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41732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64408" y="1536192"/>
            <a:ext cx="384048" cy="384048"/>
          </a:xfrm>
          <a:prstGeom prst="ellipse">
            <a:avLst/>
          </a:prstGeom>
          <a:solidFill>
            <a:srgbClr val="674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64408" y="159105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1527048"/>
            <a:ext cx="164591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305B"/>
                </a:solidFill>
              </a:defRPr>
            </a:pPr>
            <a:r>
              <a:t>Email Notification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2039112"/>
            <a:ext cx="200253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C7E"/>
                </a:solidFill>
              </a:defRPr>
            </a:pPr>
            <a:r>
              <a:t>Development Manager receives release details and required 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141732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24728" y="1536192"/>
            <a:ext cx="384048" cy="384048"/>
          </a:xfrm>
          <a:prstGeom prst="ellipse">
            <a:avLst/>
          </a:prstGeom>
          <a:solidFill>
            <a:srgbClr val="1C8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4728" y="159105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1527048"/>
            <a:ext cx="164591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305B"/>
                </a:solidFill>
              </a:defRPr>
            </a:pPr>
            <a:r>
              <a:t>Manual Upload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9592" y="2039112"/>
            <a:ext cx="200253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C7E"/>
                </a:solidFill>
              </a:defRPr>
            </a:pPr>
            <a:r>
              <a:t>Required DLLs are copied into the release folder.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141732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85048" y="1536192"/>
            <a:ext cx="384048" cy="384048"/>
          </a:xfrm>
          <a:prstGeom prst="ellipse">
            <a:avLst/>
          </a:prstGeom>
          <a:solidFill>
            <a:srgbClr val="45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159105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1392" y="1527048"/>
            <a:ext cx="164591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305B"/>
                </a:solidFill>
              </a:defRPr>
            </a:pPr>
            <a:r>
              <a:t>Files Available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2039112"/>
            <a:ext cx="200253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C7E"/>
                </a:solidFill>
              </a:defRPr>
            </a:pPr>
            <a:r>
              <a:t>DLLs are physically present for validation.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26080" y="2121408"/>
            <a:ext cx="210312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86400" y="2121408"/>
            <a:ext cx="210312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046720" y="2121408"/>
            <a:ext cx="210312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22960" y="3337560"/>
            <a:ext cx="51206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3337560"/>
            <a:ext cx="73152" cy="2057400"/>
          </a:xfrm>
          <a:prstGeom prst="rect">
            <a:avLst/>
          </a:prstGeom>
          <a:solidFill>
            <a:srgbClr val="674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3502152"/>
            <a:ext cx="4709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674A96"/>
                </a:solidFill>
              </a:defRPr>
            </a:pPr>
            <a:r>
              <a:t>Notification Should Communicate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3977639"/>
            <a:ext cx="47091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Release name / version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Application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Release folder path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Expected action: upload required DLLs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Any release-specific instructions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337560"/>
            <a:ext cx="51206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3337560"/>
            <a:ext cx="73152" cy="2057400"/>
          </a:xfrm>
          <a:prstGeom prst="rect">
            <a:avLst/>
          </a:prstGeom>
          <a:solidFill>
            <a:srgbClr val="1C8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502152"/>
            <a:ext cx="4709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C8B97"/>
                </a:solidFill>
              </a:defRPr>
            </a:pPr>
            <a:r>
              <a:t>Current Operational Dependency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977639"/>
            <a:ext cx="470915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Development Manager performs the physical DLL upload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The system relies on the configured release folder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The validation stage determines when the upload is complete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C7E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B"/>
                </a:solidFill>
                <a:latin typeface="Aptos Display"/>
              </a:defRPr>
            </a:pPr>
            <a:r>
              <a:t>4. DLL Validation &amp;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C7E"/>
                </a:solidFill>
              </a:defRPr>
            </a:pPr>
            <a:r>
              <a:t>The readiness gate before activation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1536192"/>
            <a:ext cx="384048" cy="384048"/>
          </a:xfrm>
          <a:prstGeom prst="ellipse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9105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1527048"/>
            <a:ext cx="164591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305B"/>
                </a:solidFill>
              </a:defRPr>
            </a:pPr>
            <a:r>
              <a:t>Load Expected DLLs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39112"/>
            <a:ext cx="2002536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C7E"/>
                </a:solidFill>
              </a:defRPr>
            </a:pPr>
            <a:r>
              <a:t>Determine which DLLs are required for the release/application.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41732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10128" y="1536192"/>
            <a:ext cx="384048" cy="384048"/>
          </a:xfrm>
          <a:prstGeom prst="ellipse">
            <a:avLst/>
          </a:prstGeom>
          <a:solidFill>
            <a:srgbClr val="1C8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159105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1527048"/>
            <a:ext cx="164591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305B"/>
                </a:solidFill>
              </a:defRPr>
            </a:pPr>
            <a:r>
              <a:t>Inspect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2039112"/>
            <a:ext cx="2002536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C7E"/>
                </a:solidFill>
              </a:defRPr>
            </a:pPr>
            <a:r>
              <a:t>Read the configured release folder.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1417320"/>
            <a:ext cx="2331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70448" y="1536192"/>
            <a:ext cx="384048" cy="384048"/>
          </a:xfrm>
          <a:prstGeom prst="ellipse">
            <a:avLst/>
          </a:prstGeom>
          <a:solidFill>
            <a:srgbClr val="674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70448" y="159105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1527048"/>
            <a:ext cx="164591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305B"/>
                </a:solidFill>
              </a:defRPr>
            </a:pPr>
            <a:r>
              <a:t>Compare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25312" y="2039112"/>
            <a:ext cx="2002536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C7E"/>
                </a:solidFill>
              </a:defRPr>
            </a:pPr>
            <a:r>
              <a:t>Check required DLLs against actual files.</a:t>
            </a:r>
          </a:p>
        </p:txBody>
      </p:sp>
      <p:sp>
        <p:nvSpPr>
          <p:cNvPr id="21" name="Diamond 20"/>
          <p:cNvSpPr/>
          <p:nvPr/>
        </p:nvSpPr>
        <p:spPr>
          <a:xfrm>
            <a:off x="8641080" y="1325880"/>
            <a:ext cx="2057400" cy="1554480"/>
          </a:xfrm>
          <a:prstGeom prst="diamond">
            <a:avLst/>
          </a:prstGeom>
          <a:solidFill>
            <a:srgbClr val="FFF5E1"/>
          </a:solidFill>
          <a:ln>
            <a:solidFill>
              <a:srgbClr val="DE8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2832" y="1764792"/>
            <a:ext cx="14447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50">
                <a:solidFill>
                  <a:srgbClr val="28313F"/>
                </a:solidFill>
              </a:defRPr>
            </a:pPr>
            <a:r>
              <a:t>All required</a:t>
            </a:r>
            <a:br/>
            <a:r>
              <a:t>DLLs available?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71800" y="2075688"/>
            <a:ext cx="201168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532120" y="2075688"/>
            <a:ext cx="201168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092440" y="2075688"/>
            <a:ext cx="502920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85800" y="3383280"/>
            <a:ext cx="53035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3383280"/>
            <a:ext cx="73152" cy="2103120"/>
          </a:xfrm>
          <a:prstGeom prst="rect">
            <a:avLst/>
          </a:prstGeom>
          <a:solidFill>
            <a:srgbClr val="DE8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54787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DE8021"/>
                </a:solidFill>
              </a:defRPr>
            </a:pPr>
            <a:r>
              <a:t>When the Answer is 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023360"/>
            <a:ext cx="489204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Release remains pending / waiting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System continues checking according to the configured process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Release must not be promoted to testing readiness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383280"/>
            <a:ext cx="51663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383280"/>
            <a:ext cx="73152" cy="2103120"/>
          </a:xfrm>
          <a:prstGeom prst="rect">
            <a:avLst/>
          </a:prstGeom>
          <a:solidFill>
            <a:srgbClr val="45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547872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45914A"/>
                </a:solidFill>
              </a:defRPr>
            </a:pPr>
            <a:r>
              <a:t>When the Answer is YES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023360"/>
            <a:ext cx="4754880" cy="1325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Required DLL set is complete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Release passes the readiness gate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Release becomes eligible for activation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C7E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B"/>
                </a:solidFill>
                <a:latin typeface="Aptos Display"/>
              </a:defRPr>
            </a:pPr>
            <a:r>
              <a:t>5. Release Activation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C7E"/>
                </a:solidFill>
              </a:defRPr>
            </a:pPr>
            <a:r>
              <a:t>Activation is the controlled transition into test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22402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6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2868B1"/>
                </a:solidFill>
              </a:defRPr>
            </a:pPr>
            <a:r>
              <a:t>Created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2084831"/>
            <a:ext cx="301752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83280" y="1645920"/>
            <a:ext cx="22402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8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920240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1C8B97"/>
                </a:solidFill>
              </a:defRPr>
            </a:pPr>
            <a:r>
              <a:t>Waiting for DLLs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23560" y="2084831"/>
            <a:ext cx="301752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89320" y="1645920"/>
            <a:ext cx="22402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7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920240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674A96"/>
                </a:solidFill>
              </a:defRPr>
            </a:pPr>
            <a:r>
              <a:t>Validated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0" y="2084831"/>
            <a:ext cx="301752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95360" y="1645920"/>
            <a:ext cx="22402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59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1920240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45914A"/>
                </a:solidFill>
              </a:defRPr>
            </a:pPr>
            <a:r>
              <a:t>Active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063240"/>
            <a:ext cx="52120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063240"/>
            <a:ext cx="73152" cy="2148840"/>
          </a:xfrm>
          <a:prstGeom prst="rect">
            <a:avLst/>
          </a:prstGeom>
          <a:solidFill>
            <a:srgbClr val="45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227832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45914A"/>
                </a:solidFill>
              </a:defRPr>
            </a:pPr>
            <a:r>
              <a:t>Activation Preconditions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703320"/>
            <a:ext cx="4800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Required DLLs are present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Applicable validation rules pass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Release is in a state eligible for activation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Authorized release action is performed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063240"/>
            <a:ext cx="4983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063240"/>
            <a:ext cx="73152" cy="2148840"/>
          </a:xfrm>
          <a:prstGeom prst="rect">
            <a:avLst/>
          </a:prstGeom>
          <a:solidFill>
            <a:srgbClr val="12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227832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305B"/>
                </a:solidFill>
              </a:defRPr>
            </a:pPr>
            <a:r>
              <a:t>Post-Activation Meaning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7033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Release is Active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Release is available to testing workflow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Test Manager can select release-specific DLLs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Lifecycle and audit state can be tracked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C7E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B"/>
                </a:solidFill>
                <a:latin typeface="Aptos Display"/>
              </a:defRPr>
            </a:pPr>
            <a:r>
              <a:t>6. Test Manager — Test Case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C7E"/>
                </a:solidFill>
              </a:defRPr>
            </a:pPr>
            <a:r>
              <a:t>Testing begins with the active release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011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2648" y="1536192"/>
            <a:ext cx="384048" cy="384048"/>
          </a:xfrm>
          <a:prstGeom prst="ellipse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59105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527048"/>
            <a:ext cx="1325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305B"/>
                </a:solidFill>
              </a:defRPr>
            </a:pPr>
            <a:r>
              <a:t>Open Active Release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039112"/>
            <a:ext cx="168249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C7E"/>
                </a:solidFill>
              </a:defRPr>
            </a:pPr>
            <a:r>
              <a:t>Select the release that has passed activation.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14600" y="2121408"/>
            <a:ext cx="210312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07208" y="1417320"/>
            <a:ext cx="2011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16936" y="1536192"/>
            <a:ext cx="384048" cy="384048"/>
          </a:xfrm>
          <a:prstGeom prst="ellipse">
            <a:avLst/>
          </a:prstGeom>
          <a:solidFill>
            <a:srgbClr val="1C8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6936" y="159105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527048"/>
            <a:ext cx="1325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305B"/>
                </a:solidFill>
              </a:defRPr>
            </a:pPr>
            <a:r>
              <a:t>View DLLs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039112"/>
            <a:ext cx="168249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C7E"/>
                </a:solidFill>
              </a:defRPr>
            </a:pPr>
            <a:r>
              <a:t>Only the release's available DLL context is presented.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18888" y="2121408"/>
            <a:ext cx="210312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11496" y="1417320"/>
            <a:ext cx="2011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21224" y="1536192"/>
            <a:ext cx="384048" cy="384048"/>
          </a:xfrm>
          <a:prstGeom prst="ellipse">
            <a:avLst/>
          </a:prstGeom>
          <a:solidFill>
            <a:srgbClr val="674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159105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7568" y="1527048"/>
            <a:ext cx="1325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305B"/>
                </a:solidFill>
              </a:defRPr>
            </a:pPr>
            <a:r>
              <a:t>Select Test 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2039112"/>
            <a:ext cx="168249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C7E"/>
                </a:solidFill>
              </a:defRPr>
            </a:pPr>
            <a:r>
              <a:t>Choose the required test case(s).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23176" y="2121408"/>
            <a:ext cx="210312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15784" y="1417320"/>
            <a:ext cx="2011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25512" y="1536192"/>
            <a:ext cx="384048" cy="384048"/>
          </a:xfrm>
          <a:prstGeom prst="ellipse">
            <a:avLst/>
          </a:prstGeom>
          <a:solidFill>
            <a:srgbClr val="DE8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25512" y="159105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1856" y="1527048"/>
            <a:ext cx="1325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305B"/>
                </a:solidFill>
              </a:defRPr>
            </a:pPr>
            <a:r>
              <a:t>Select Test Method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0376" y="2039112"/>
            <a:ext cx="168249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C7E"/>
                </a:solidFill>
              </a:defRPr>
            </a:pPr>
            <a:r>
              <a:t>Map the relevant test method to the DLL.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27464" y="2121408"/>
            <a:ext cx="210312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720072" y="1417320"/>
            <a:ext cx="2011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829800" y="1536192"/>
            <a:ext cx="384048" cy="384048"/>
          </a:xfrm>
          <a:prstGeom prst="ellipse">
            <a:avLst/>
          </a:prstGeom>
          <a:solidFill>
            <a:srgbClr val="45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9800" y="1591056"/>
            <a:ext cx="38404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96144" y="1527048"/>
            <a:ext cx="1325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2305B"/>
                </a:solidFill>
              </a:defRPr>
            </a:pPr>
            <a:r>
              <a:t>Assign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84664" y="2039112"/>
            <a:ext cx="168249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E6C7E"/>
                </a:solidFill>
              </a:defRPr>
            </a:pPr>
            <a:r>
              <a:t>Persist the assignment for execution.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3429000"/>
            <a:ext cx="10241280" cy="2057400"/>
          </a:xfrm>
          <a:prstGeom prst="roundRect">
            <a:avLst/>
          </a:prstGeom>
          <a:solidFill>
            <a:srgbClr val="F4F7FB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373075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5E6C7E"/>
                </a:solidFill>
              </a:defRPr>
            </a:pPr>
            <a:r>
              <a:t>Release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25880" y="4114800"/>
            <a:ext cx="27432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63039" y="427939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8313F"/>
                </a:solidFill>
              </a:defRPr>
            </a:pPr>
            <a:r>
              <a:t>Release_1001  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73075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5E6C7E"/>
                </a:solidFill>
              </a:defRPr>
            </a:pPr>
            <a:r>
              <a:t>DLL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0" y="4114800"/>
            <a:ext cx="27432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09160" y="427939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8313F"/>
                </a:solidFill>
              </a:defRPr>
            </a:pPr>
            <a:r>
              <a:t>Application.Core.dll  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19" y="373075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5E6C7E"/>
                </a:solidFill>
              </a:defRPr>
            </a:pPr>
            <a:r>
              <a:t>Test Method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18119" y="4114800"/>
            <a:ext cx="27432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79" y="4279392"/>
            <a:ext cx="2468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8313F"/>
                </a:solidFill>
              </a:defRPr>
            </a:pPr>
            <a:r>
              <a:t>ValidateApplication()  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4892040"/>
            <a:ext cx="9418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50">
                <a:solidFill>
                  <a:srgbClr val="12305B"/>
                </a:solidFill>
              </a:defRPr>
            </a:pPr>
            <a:r>
              <a:t>The important relationship is: Active Release → DLL → Test Case → Test Method → Assigned Tester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C7E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B"/>
                </a:solidFill>
                <a:latin typeface="Aptos Display"/>
              </a:defRPr>
            </a:pPr>
            <a:r>
              <a:t>High-Level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C7E"/>
                </a:solidFill>
              </a:defRPr>
            </a:pPr>
            <a:r>
              <a:t>Logical view of the Release Management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20574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73152" cy="4526280"/>
          </a:xfrm>
          <a:prstGeom prst="rect">
            <a:avLst/>
          </a:prstGeom>
          <a:solidFill>
            <a:srgbClr val="12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305B"/>
                </a:solidFill>
              </a:defRPr>
            </a:pPr>
            <a:r>
              <a:t>Actors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16459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Release Manager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Development Manager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Test Manager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Tester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371600"/>
            <a:ext cx="5669280" cy="4526280"/>
          </a:xfrm>
          <a:prstGeom prst="roundRect">
            <a:avLst/>
          </a:prstGeom>
          <a:solidFill>
            <a:srgbClr val="E8F1FA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572768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12305B"/>
                </a:solidFill>
              </a:defRPr>
            </a:pPr>
            <a:r>
              <a:t>Release Management Application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057400"/>
            <a:ext cx="1188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86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219456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050">
                <a:solidFill>
                  <a:srgbClr val="2868B1"/>
                </a:solidFill>
              </a:defRPr>
            </a:pPr>
            <a:r>
              <a:t>Release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807208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E6C7E"/>
                </a:solidFill>
              </a:defRPr>
            </a:pPr>
            <a:r>
              <a:t>Create / view / activate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057400"/>
            <a:ext cx="1188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67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19456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050">
                <a:solidFill>
                  <a:srgbClr val="674A96"/>
                </a:solidFill>
              </a:defRPr>
            </a:pPr>
            <a:r>
              <a:t>Notification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807208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E6C7E"/>
                </a:solidFill>
              </a:defRPr>
            </a:pPr>
            <a:r>
              <a:t>Email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2057400"/>
            <a:ext cx="1188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C8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219456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050">
                <a:solidFill>
                  <a:srgbClr val="1C8B97"/>
                </a:solidFill>
              </a:defRPr>
            </a:pPr>
            <a:r>
              <a:t>DLL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2807208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E6C7E"/>
                </a:solidFill>
              </a:defRPr>
            </a:pPr>
            <a:r>
              <a:t>Check / validate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2057400"/>
            <a:ext cx="1188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8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59" y="219456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050">
                <a:solidFill>
                  <a:srgbClr val="DE8021"/>
                </a:solidFill>
              </a:defRPr>
            </a:pPr>
            <a:r>
              <a:t>Test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2807208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5E6C7E"/>
                </a:solidFill>
              </a:defRPr>
            </a:pPr>
            <a:r>
              <a:t>Assign / map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71800" y="3794760"/>
            <a:ext cx="51206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4005072"/>
            <a:ext cx="4663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50">
                <a:solidFill>
                  <a:srgbClr val="12305B"/>
                </a:solidFill>
              </a:defRPr>
            </a:pPr>
            <a:r>
              <a:t>Common 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4348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5E6C7E"/>
                </a:solidFill>
              </a:defRPr>
            </a:pPr>
            <a:r>
              <a:t>Security / Roles  •  Audit  •  Configuration  •  Shared utilities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1080" y="1371600"/>
            <a:ext cx="30632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41080" y="1371600"/>
            <a:ext cx="73152" cy="2148840"/>
          </a:xfrm>
          <a:prstGeom prst="rect">
            <a:avLst/>
          </a:prstGeom>
          <a:solidFill>
            <a:srgbClr val="674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1536192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674A96"/>
                </a:solidFill>
              </a:defRPr>
            </a:pPr>
            <a:r>
              <a:t>External Integrations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01168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Email Server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File System / Network Share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41080" y="3749039"/>
            <a:ext cx="30632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41080" y="3749039"/>
            <a:ext cx="73152" cy="2148840"/>
          </a:xfrm>
          <a:prstGeom prst="rect">
            <a:avLst/>
          </a:prstGeom>
          <a:solidFill>
            <a:srgbClr val="45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0" y="3913631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45914A"/>
                </a:solidFill>
              </a:defRPr>
            </a:pPr>
            <a:r>
              <a:t>Data Stores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43891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Release / Application DB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Audit / operational data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468880" y="3520440"/>
            <a:ext cx="201168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394192" y="2743200"/>
            <a:ext cx="219456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394192" y="4754880"/>
            <a:ext cx="219456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C7E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B"/>
                </a:solidFill>
                <a:latin typeface="Aptos Display"/>
              </a:defRPr>
            </a:pPr>
            <a:r>
              <a:t>Component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C7E"/>
                </a:solidFill>
              </a:defRPr>
            </a:pPr>
            <a:r>
              <a:t>What each logical component owns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26517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73152" cy="4526280"/>
          </a:xfrm>
          <a:prstGeom prst="rect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90472"/>
            <a:ext cx="2240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2868B1"/>
                </a:solidFill>
              </a:defRPr>
            </a:pPr>
            <a:r>
              <a:t>Release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224027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Create release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Store release metadata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View release details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Manage lifecycle status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Initiate / perform activation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25880"/>
            <a:ext cx="26517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325880"/>
            <a:ext cx="73152" cy="4526280"/>
          </a:xfrm>
          <a:prstGeom prst="rect">
            <a:avLst/>
          </a:prstGeom>
          <a:solidFill>
            <a:srgbClr val="674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490472"/>
            <a:ext cx="2240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674A96"/>
                </a:solidFill>
              </a:defRPr>
            </a:pPr>
            <a:r>
              <a:t>Notification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965960"/>
            <a:ext cx="224027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Build release notification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Identify Development Manager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Send email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Include release and folder information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26517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73152" cy="4526280"/>
          </a:xfrm>
          <a:prstGeom prst="rect">
            <a:avLst/>
          </a:prstGeom>
          <a:solidFill>
            <a:srgbClr val="1C8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490472"/>
            <a:ext cx="2240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C8B97"/>
                </a:solidFill>
              </a:defRPr>
            </a:pPr>
            <a:r>
              <a:t>DLL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965960"/>
            <a:ext cx="224027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Identify expected DLLs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Inspect release folder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Check availability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Validate status/version where applicable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Expose DLL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325880"/>
            <a:ext cx="26517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60" y="1325880"/>
            <a:ext cx="73152" cy="4526280"/>
          </a:xfrm>
          <a:prstGeom prst="rect">
            <a:avLst/>
          </a:prstGeom>
          <a:solidFill>
            <a:srgbClr val="DE8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490472"/>
            <a:ext cx="2240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DE8021"/>
                </a:solidFill>
              </a:defRPr>
            </a:pPr>
            <a:r>
              <a:t>Test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1965960"/>
            <a:ext cx="224027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Load active release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Present available DLLs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Map test cases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Select test methods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Assign test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C7E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B"/>
                </a:solidFill>
                <a:latin typeface="Aptos Display"/>
              </a:defRPr>
            </a:pPr>
            <a:r>
              <a:t>Key Data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C7E"/>
                </a:solidFill>
              </a:defRPr>
            </a:pPr>
            <a:r>
              <a:t>Traceability across the release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965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286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8424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2868B1"/>
                </a:solidFill>
              </a:defRPr>
            </a:pPr>
            <a:r>
              <a:t>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6916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8313F"/>
                </a:solidFill>
              </a:defRPr>
            </a:pPr>
            <a:r>
              <a:t>• ApplicationId</a:t>
            </a:r>
          </a:p>
          <a:p>
            <a:pPr>
              <a:spcAft>
                <a:spcPts val="500"/>
              </a:spcAft>
              <a:defRPr sz="1050">
                <a:solidFill>
                  <a:srgbClr val="28313F"/>
                </a:solidFill>
              </a:defRPr>
            </a:pPr>
            <a:r>
              <a:t>• Name</a:t>
            </a:r>
          </a:p>
          <a:p>
            <a:pPr>
              <a:spcAft>
                <a:spcPts val="500"/>
              </a:spcAft>
              <a:defRPr sz="1050">
                <a:solidFill>
                  <a:srgbClr val="28313F"/>
                </a:solidFill>
              </a:defRPr>
            </a:pPr>
            <a:r>
              <a:t>• Configuration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828800"/>
            <a:ext cx="1965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1C8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98424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1C8B97"/>
                </a:solidFill>
              </a:defRPr>
            </a:pPr>
            <a:r>
              <a:t>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9" y="2514600"/>
            <a:ext cx="16916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8313F"/>
                </a:solidFill>
              </a:defRPr>
            </a:pPr>
            <a:r>
              <a:t>• EnvironmentId</a:t>
            </a:r>
          </a:p>
          <a:p>
            <a:pPr>
              <a:spcAft>
                <a:spcPts val="500"/>
              </a:spcAft>
              <a:defRPr sz="1050">
                <a:solidFill>
                  <a:srgbClr val="28313F"/>
                </a:solidFill>
              </a:defRPr>
            </a:pPr>
            <a:r>
              <a:t>• Name</a:t>
            </a:r>
          </a:p>
          <a:p>
            <a:pPr>
              <a:spcAft>
                <a:spcPts val="500"/>
              </a:spcAft>
              <a:defRPr sz="1050">
                <a:solidFill>
                  <a:srgbClr val="28313F"/>
                </a:solidFill>
              </a:defRPr>
            </a:pPr>
            <a:r>
              <a:t>• Path / settings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1828800"/>
            <a:ext cx="1965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67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59" y="198424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674A96"/>
                </a:solidFill>
              </a:defRPr>
            </a:pPr>
            <a:r>
              <a:t>Release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514600"/>
            <a:ext cx="16916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8313F"/>
                </a:solidFill>
              </a:defRPr>
            </a:pPr>
            <a:r>
              <a:t>• ReleaseId</a:t>
            </a:r>
          </a:p>
          <a:p>
            <a:pPr>
              <a:spcAft>
                <a:spcPts val="500"/>
              </a:spcAft>
              <a:defRPr sz="1050">
                <a:solidFill>
                  <a:srgbClr val="28313F"/>
                </a:solidFill>
              </a:defRPr>
            </a:pPr>
            <a:r>
              <a:t>• Version</a:t>
            </a:r>
          </a:p>
          <a:p>
            <a:pPr>
              <a:spcAft>
                <a:spcPts val="500"/>
              </a:spcAft>
              <a:defRPr sz="1050">
                <a:solidFill>
                  <a:srgbClr val="28313F"/>
                </a:solidFill>
              </a:defRPr>
            </a:pPr>
            <a:r>
              <a:t>•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1828800"/>
            <a:ext cx="1965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8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198424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DE8021"/>
                </a:solidFill>
              </a:defRPr>
            </a:pPr>
            <a:r>
              <a:t>Release DLL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2514600"/>
            <a:ext cx="16916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8313F"/>
                </a:solidFill>
              </a:defRPr>
            </a:pPr>
            <a:r>
              <a:t>• DLL Name</a:t>
            </a:r>
          </a:p>
          <a:p>
            <a:pPr>
              <a:spcAft>
                <a:spcPts val="500"/>
              </a:spcAft>
              <a:defRPr sz="1050">
                <a:solidFill>
                  <a:srgbClr val="28313F"/>
                </a:solidFill>
              </a:defRPr>
            </a:pPr>
            <a:r>
              <a:t>• Expected / Actual</a:t>
            </a:r>
          </a:p>
          <a:p>
            <a:pPr>
              <a:spcAft>
                <a:spcPts val="500"/>
              </a:spcAft>
              <a:defRPr sz="1050">
                <a:solidFill>
                  <a:srgbClr val="28313F"/>
                </a:solidFill>
              </a:defRPr>
            </a:pPr>
            <a:r>
              <a:t>•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1828800"/>
            <a:ext cx="19659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459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198424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45914A"/>
                </a:solidFill>
              </a:defRPr>
            </a:pPr>
            <a:r>
              <a:t>Release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2514600"/>
            <a:ext cx="16916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8313F"/>
                </a:solidFill>
              </a:defRPr>
            </a:pPr>
            <a:r>
              <a:t>• Test Case</a:t>
            </a:r>
          </a:p>
          <a:p>
            <a:pPr>
              <a:spcAft>
                <a:spcPts val="500"/>
              </a:spcAft>
              <a:defRPr sz="1050">
                <a:solidFill>
                  <a:srgbClr val="28313F"/>
                </a:solidFill>
              </a:defRPr>
            </a:pPr>
            <a:r>
              <a:t>• Test Method</a:t>
            </a:r>
          </a:p>
          <a:p>
            <a:pPr>
              <a:spcAft>
                <a:spcPts val="500"/>
              </a:spcAft>
              <a:defRPr sz="1050">
                <a:solidFill>
                  <a:srgbClr val="28313F"/>
                </a:solidFill>
              </a:defRPr>
            </a:pPr>
            <a:r>
              <a:t>• Assigned To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468880" y="2880360"/>
            <a:ext cx="292608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54880" y="2880360"/>
            <a:ext cx="292608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40880" y="2880360"/>
            <a:ext cx="292608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326880" y="2880360"/>
            <a:ext cx="292608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14400" y="4572000"/>
            <a:ext cx="10287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4572000"/>
            <a:ext cx="73152" cy="1097280"/>
          </a:xfrm>
          <a:prstGeom prst="rect">
            <a:avLst/>
          </a:prstGeom>
          <a:solidFill>
            <a:srgbClr val="12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4736592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305B"/>
                </a:solidFill>
              </a:defRPr>
            </a:pPr>
            <a:r>
              <a:t>Traceability Chain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2120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8313F"/>
                </a:solidFill>
              </a:defRPr>
            </a:pPr>
            <a:r>
              <a:t>• Application + Environment → Release → Release DLLs → Test Cases / Test Methods → Assignment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C7E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B"/>
                </a:solidFill>
                <a:latin typeface="Aptos Display"/>
              </a:defRPr>
            </a:pPr>
            <a:r>
              <a:t>Environment Management — Design Consideration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C7E"/>
                </a:solidFill>
              </a:defRPr>
            </a:pPr>
            <a:r>
              <a:t>Move environment-specific values from hard-coded configuration to managed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2120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73152" cy="4526280"/>
          </a:xfrm>
          <a:prstGeom prst="rect">
            <a:avLst/>
          </a:prstGeom>
          <a:solidFill>
            <a:srgbClr val="DE8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DE8021"/>
                </a:solidFill>
              </a:defRPr>
            </a:pPr>
            <a:r>
              <a:t>Current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480060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Environment information may be hard-coded in application configuration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Changing environment values can require configuration/code changes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Release folder location can become difficult to maintain consistently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Multiple environments increase operational complexity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394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325880"/>
            <a:ext cx="73152" cy="4526280"/>
          </a:xfrm>
          <a:prstGeom prst="rect">
            <a:avLst/>
          </a:prstGeom>
          <a:solidFill>
            <a:srgbClr val="45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90472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45914A"/>
                </a:solidFill>
              </a:defRPr>
            </a:pPr>
            <a:r>
              <a:t>Recommended High-Level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49834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Introduce an Environment master/table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Store environment name, active status and release-path/configuration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Reference Environment from the Release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Resolve the physical release folder from environment configuration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Keep environment changes data-driven rather than code-driven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Audit environment usage and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C7E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B"/>
                </a:solidFill>
                <a:latin typeface="Aptos Display"/>
              </a:defRPr>
            </a:pPr>
            <a:r>
              <a:t>Release State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C7E"/>
                </a:solidFill>
              </a:defRPr>
            </a:pPr>
            <a:r>
              <a:t>Suggested explanation of lifecycle states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1737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286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7335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50">
                <a:solidFill>
                  <a:srgbClr val="2868B1"/>
                </a:solidFill>
              </a:defRPr>
            </a:pPr>
            <a:r>
              <a:t>Created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84831"/>
            <a:ext cx="151790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">
                <a:solidFill>
                  <a:srgbClr val="5E6C7E"/>
                </a:solidFill>
              </a:defRPr>
            </a:pPr>
            <a:r>
              <a:t>Release record exists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31720" y="2075688"/>
            <a:ext cx="228600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532888" y="1463040"/>
            <a:ext cx="1737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C8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4328" y="167335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50">
                <a:solidFill>
                  <a:srgbClr val="1C8B97"/>
                </a:solidFill>
              </a:defRPr>
            </a:pPr>
            <a:r>
              <a:t>Folder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2616" y="2084831"/>
            <a:ext cx="151790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">
                <a:solidFill>
                  <a:srgbClr val="5E6C7E"/>
                </a:solidFill>
              </a:defRPr>
            </a:pPr>
            <a:r>
              <a:t>Physical release location created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75688"/>
            <a:ext cx="228600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71416" y="1463040"/>
            <a:ext cx="1737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8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167335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50">
                <a:solidFill>
                  <a:srgbClr val="DE8021"/>
                </a:solidFill>
              </a:defRPr>
            </a:pPr>
            <a:r>
              <a:t>Waiting for DLLs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084831"/>
            <a:ext cx="151790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">
                <a:solidFill>
                  <a:srgbClr val="5E6C7E"/>
                </a:solidFill>
              </a:defRPr>
            </a:pPr>
            <a:r>
              <a:t>Required binaries not complete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075688"/>
            <a:ext cx="228600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9944" y="1463040"/>
            <a:ext cx="1737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67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1384" y="167335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50">
                <a:solidFill>
                  <a:srgbClr val="674A96"/>
                </a:solidFill>
              </a:defRPr>
            </a:pPr>
            <a:r>
              <a:t>Validated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084831"/>
            <a:ext cx="151790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">
                <a:solidFill>
                  <a:srgbClr val="5E6C7E"/>
                </a:solidFill>
              </a:defRPr>
            </a:pPr>
            <a:r>
              <a:t>Required DLL set is complete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147304" y="2075688"/>
            <a:ext cx="228600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348472" y="1463040"/>
            <a:ext cx="1737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459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167335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50">
                <a:solidFill>
                  <a:srgbClr val="45914A"/>
                </a:solidFill>
              </a:defRPr>
            </a:pPr>
            <a:r>
              <a:t>Active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084831"/>
            <a:ext cx="151790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">
                <a:solidFill>
                  <a:srgbClr val="5E6C7E"/>
                </a:solidFill>
              </a:defRPr>
            </a:pPr>
            <a:r>
              <a:t>Release is ready for testing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85832" y="2075688"/>
            <a:ext cx="228600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287000" y="1463040"/>
            <a:ext cx="1737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123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78440" y="167335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50">
                <a:solidFill>
                  <a:srgbClr val="12305B"/>
                </a:solidFill>
              </a:defRPr>
            </a:pPr>
            <a:r>
              <a:t>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96728" y="2084831"/>
            <a:ext cx="151790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">
                <a:solidFill>
                  <a:srgbClr val="5E6C7E"/>
                </a:solidFill>
              </a:defRPr>
            </a:pPr>
            <a:r>
              <a:t>Test cases/methods are assigned and executed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3246120"/>
            <a:ext cx="50749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" y="3246120"/>
            <a:ext cx="73152" cy="2011680"/>
          </a:xfrm>
          <a:prstGeom prst="rect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3410712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2868B1"/>
                </a:solidFill>
              </a:defRPr>
            </a:pPr>
            <a:r>
              <a:t>State Transition Rules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3886200"/>
            <a:ext cx="4663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28313F"/>
                </a:solidFill>
              </a:defRPr>
            </a:pPr>
            <a:r>
              <a:t>• Created → Folder Ready after folder creation</a:t>
            </a:r>
          </a:p>
          <a:p>
            <a:pPr>
              <a:spcAft>
                <a:spcPts val="600"/>
              </a:spcAft>
              <a:defRPr sz="1120">
                <a:solidFill>
                  <a:srgbClr val="28313F"/>
                </a:solidFill>
              </a:defRPr>
            </a:pPr>
            <a:r>
              <a:t>• Folder Ready → Waiting for DLLs when binaries are pending</a:t>
            </a:r>
          </a:p>
          <a:p>
            <a:pPr>
              <a:spcAft>
                <a:spcPts val="600"/>
              </a:spcAft>
              <a:defRPr sz="1120">
                <a:solidFill>
                  <a:srgbClr val="28313F"/>
                </a:solidFill>
              </a:defRPr>
            </a:pPr>
            <a:r>
              <a:t>• Waiting → Validated after required DLLs are complete</a:t>
            </a:r>
          </a:p>
          <a:p>
            <a:pPr>
              <a:spcAft>
                <a:spcPts val="600"/>
              </a:spcAft>
              <a:defRPr sz="1120">
                <a:solidFill>
                  <a:srgbClr val="28313F"/>
                </a:solidFill>
              </a:defRPr>
            </a:pPr>
            <a:r>
              <a:t>• Validated → Active after successful activation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3246120"/>
            <a:ext cx="50749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3246120"/>
            <a:ext cx="73152" cy="2011680"/>
          </a:xfrm>
          <a:prstGeom prst="rect">
            <a:avLst/>
          </a:prstGeom>
          <a:solidFill>
            <a:srgbClr val="45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410712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45914A"/>
                </a:solidFill>
              </a:defRPr>
            </a:pPr>
            <a:r>
              <a:t>Control Principle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886200"/>
            <a:ext cx="4663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20">
                <a:solidFill>
                  <a:srgbClr val="28313F"/>
                </a:solidFill>
              </a:defRPr>
            </a:pPr>
            <a:r>
              <a:t>• Do not expose an incomplete release to the testing workflow</a:t>
            </a:r>
          </a:p>
          <a:p>
            <a:pPr>
              <a:spcAft>
                <a:spcPts val="600"/>
              </a:spcAft>
              <a:defRPr sz="1120">
                <a:solidFill>
                  <a:srgbClr val="28313F"/>
                </a:solidFill>
              </a:defRPr>
            </a:pPr>
            <a:r>
              <a:t>• Keep status changes auditable</a:t>
            </a:r>
          </a:p>
          <a:p>
            <a:pPr>
              <a:spcAft>
                <a:spcPts val="600"/>
              </a:spcAft>
              <a:defRPr sz="1120">
                <a:solidFill>
                  <a:srgbClr val="28313F"/>
                </a:solidFill>
              </a:defRPr>
            </a:pPr>
            <a:r>
              <a:t>• Make the active state the clear entry point for test assignment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C7E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B"/>
                </a:solidFill>
                <a:latin typeface="Aptos Display"/>
              </a:defRPr>
            </a:pPr>
            <a:r>
              <a:t>Roles &amp;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C7E"/>
                </a:solidFill>
              </a:defRPr>
            </a:pPr>
            <a:r>
              <a:t>Clear ownership prevents process gaps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2743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73152" cy="4434840"/>
          </a:xfrm>
          <a:prstGeom prst="rect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2868B1"/>
                </a:solidFill>
              </a:defRPr>
            </a:pPr>
            <a:r>
              <a:t>Release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233172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Create release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Maintain release details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Manage lifecycle / activation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63040"/>
            <a:ext cx="2743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463040"/>
            <a:ext cx="73152" cy="4434840"/>
          </a:xfrm>
          <a:prstGeom prst="rect">
            <a:avLst/>
          </a:prstGeom>
          <a:solidFill>
            <a:srgbClr val="1C8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627632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C8B97"/>
                </a:solidFill>
              </a:defRPr>
            </a:pPr>
            <a:r>
              <a:t>Development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103120"/>
            <a:ext cx="233172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Receive notification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Upload DLLs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Ensure files are placed correctly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63040"/>
            <a:ext cx="2743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463040"/>
            <a:ext cx="73152" cy="4434840"/>
          </a:xfrm>
          <a:prstGeom prst="rect">
            <a:avLst/>
          </a:prstGeom>
          <a:solidFill>
            <a:srgbClr val="674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27632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674A96"/>
                </a:solidFill>
              </a:defRPr>
            </a:pPr>
            <a:r>
              <a:t>Test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03120"/>
            <a:ext cx="233172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Open active release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Assign test cases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Select DLL / test method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463040"/>
            <a:ext cx="2743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463040"/>
            <a:ext cx="73152" cy="4434840"/>
          </a:xfrm>
          <a:prstGeom prst="rect">
            <a:avLst/>
          </a:prstGeom>
          <a:solidFill>
            <a:srgbClr val="45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627632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45914A"/>
                </a:solidFill>
              </a:defRPr>
            </a:pPr>
            <a:r>
              <a:t>Tester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103120"/>
            <a:ext cx="233172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View assigned tests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Execute test methods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Record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C7E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B"/>
                </a:solidFill>
                <a:latin typeface="Aptos Display"/>
              </a:defRPr>
            </a:pPr>
            <a:r>
              <a:t>Current Process vs. Improved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C7E"/>
                </a:solidFill>
              </a:defRPr>
            </a:pPr>
            <a:r>
              <a:t>Where the design can reduce manual effort and improve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53312"/>
            <a:ext cx="2057400" cy="566928"/>
          </a:xfrm>
          <a:prstGeom prst="rect">
            <a:avLst/>
          </a:prstGeom>
          <a:solidFill>
            <a:srgbClr val="1230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499616"/>
            <a:ext cx="187451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080">
                <a:solidFill>
                  <a:srgbClr val="FFFFFF"/>
                </a:solidFill>
              </a:defRPr>
            </a:pPr>
            <a:r>
              <a:t>Area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353312"/>
            <a:ext cx="4297680" cy="566928"/>
          </a:xfrm>
          <a:prstGeom prst="rect">
            <a:avLst/>
          </a:prstGeom>
          <a:solidFill>
            <a:srgbClr val="1230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499616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080">
                <a:solidFill>
                  <a:srgbClr val="FFFFFF"/>
                </a:solidFill>
              </a:defRPr>
            </a:pPr>
            <a:r>
              <a:t>Current / Existing Pattern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1353312"/>
            <a:ext cx="4297680" cy="566928"/>
          </a:xfrm>
          <a:prstGeom prst="rect">
            <a:avLst/>
          </a:prstGeom>
          <a:solidFill>
            <a:srgbClr val="12305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1499616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080">
                <a:solidFill>
                  <a:srgbClr val="FFFFFF"/>
                </a:solidFill>
              </a:defRPr>
            </a:pPr>
            <a:r>
              <a:t>Improved Design Direction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920240"/>
            <a:ext cx="20574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2020824"/>
            <a:ext cx="1874519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19">
                <a:solidFill>
                  <a:srgbClr val="28313F"/>
                </a:solidFill>
              </a:defRPr>
            </a:pPr>
            <a:r>
              <a:t>Release configuration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1920240"/>
            <a:ext cx="4297680" cy="694944"/>
          </a:xfrm>
          <a:prstGeom prst="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2020824"/>
            <a:ext cx="4114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19">
                <a:solidFill>
                  <a:srgbClr val="28313F"/>
                </a:solidFill>
              </a:defRPr>
            </a:pPr>
            <a:r>
              <a:t>Environment/path values can be hard-coded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1920240"/>
            <a:ext cx="4297680" cy="694944"/>
          </a:xfrm>
          <a:prstGeom prst="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2020824"/>
            <a:ext cx="4114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19">
                <a:solidFill>
                  <a:srgbClr val="28313F"/>
                </a:solidFill>
              </a:defRPr>
            </a:pPr>
            <a:r>
              <a:t>Environment master/table drives configuration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615184"/>
            <a:ext cx="2057400" cy="694944"/>
          </a:xfrm>
          <a:prstGeom prst="rect">
            <a:avLst/>
          </a:prstGeom>
          <a:solidFill>
            <a:srgbClr val="F4F7FB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19" y="2715768"/>
            <a:ext cx="1874519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19">
                <a:solidFill>
                  <a:srgbClr val="28313F"/>
                </a:solidFill>
              </a:defRPr>
            </a:pPr>
            <a:r>
              <a:t>DLL readiness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80" y="2615184"/>
            <a:ext cx="4297680" cy="694944"/>
          </a:xfrm>
          <a:prstGeom prst="rect">
            <a:avLst/>
          </a:prstGeom>
          <a:solidFill>
            <a:srgbClr val="F4F7FB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2715768"/>
            <a:ext cx="4114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19">
                <a:solidFill>
                  <a:srgbClr val="28313F"/>
                </a:solidFill>
              </a:defRPr>
            </a:pPr>
            <a:r>
              <a:t>Manual upload + repeated checking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2615184"/>
            <a:ext cx="4297680" cy="694944"/>
          </a:xfrm>
          <a:prstGeom prst="rect">
            <a:avLst/>
          </a:prstGeom>
          <a:solidFill>
            <a:srgbClr val="F4F7FB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2715768"/>
            <a:ext cx="4114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19">
                <a:solidFill>
                  <a:srgbClr val="28313F"/>
                </a:solidFill>
              </a:defRPr>
            </a:pPr>
            <a:r>
              <a:t>Centralized validation and clear readiness status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310128"/>
            <a:ext cx="20574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19" y="3410712"/>
            <a:ext cx="1874519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19">
                <a:solidFill>
                  <a:srgbClr val="28313F"/>
                </a:solidFill>
              </a:defRPr>
            </a:pPr>
            <a:r>
              <a:t>Folder management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7480" y="3310128"/>
            <a:ext cx="4297680" cy="694944"/>
          </a:xfrm>
          <a:prstGeom prst="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8920" y="3410712"/>
            <a:ext cx="4114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19">
                <a:solidFill>
                  <a:srgbClr val="28313F"/>
                </a:solidFill>
              </a:defRPr>
            </a:pPr>
            <a:r>
              <a:t>Release-specific physical folder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95160" y="3310128"/>
            <a:ext cx="4297680" cy="694944"/>
          </a:xfrm>
          <a:prstGeom prst="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3410712"/>
            <a:ext cx="4114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19">
                <a:solidFill>
                  <a:srgbClr val="28313F"/>
                </a:solidFill>
              </a:defRPr>
            </a:pPr>
            <a:r>
              <a:t>Environment-aware, standardized folder resolution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005072"/>
            <a:ext cx="2057400" cy="694944"/>
          </a:xfrm>
          <a:prstGeom prst="rect">
            <a:avLst/>
          </a:prstGeom>
          <a:solidFill>
            <a:srgbClr val="F4F7FB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19" y="4105656"/>
            <a:ext cx="1874519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19">
                <a:solidFill>
                  <a:srgbClr val="28313F"/>
                </a:solidFill>
              </a:defRPr>
            </a:pPr>
            <a:r>
              <a:t>Traceability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97480" y="4005072"/>
            <a:ext cx="4297680" cy="694944"/>
          </a:xfrm>
          <a:prstGeom prst="rect">
            <a:avLst/>
          </a:prstGeom>
          <a:solidFill>
            <a:srgbClr val="F4F7FB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8920" y="4105656"/>
            <a:ext cx="4114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19">
                <a:solidFill>
                  <a:srgbClr val="28313F"/>
                </a:solidFill>
              </a:defRPr>
            </a:pPr>
            <a:r>
              <a:t>Release and test context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95160" y="4005072"/>
            <a:ext cx="4297680" cy="694944"/>
          </a:xfrm>
          <a:prstGeom prst="rect">
            <a:avLst/>
          </a:prstGeom>
          <a:solidFill>
            <a:srgbClr val="F4F7FB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86600" y="4105656"/>
            <a:ext cx="4114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19">
                <a:solidFill>
                  <a:srgbClr val="28313F"/>
                </a:solidFill>
              </a:defRPr>
            </a:pPr>
            <a:r>
              <a:t>Release → DLL → test case → method → user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700016"/>
            <a:ext cx="2057400" cy="694944"/>
          </a:xfrm>
          <a:prstGeom prst="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19" y="4800600"/>
            <a:ext cx="1874519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19">
                <a:solidFill>
                  <a:srgbClr val="28313F"/>
                </a:solidFill>
              </a:defRPr>
            </a:pPr>
            <a:r>
              <a:t>Visibility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97480" y="4700016"/>
            <a:ext cx="4297680" cy="694944"/>
          </a:xfrm>
          <a:prstGeom prst="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88920" y="4800600"/>
            <a:ext cx="4114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19">
                <a:solidFill>
                  <a:srgbClr val="28313F"/>
                </a:solidFill>
              </a:defRPr>
            </a:pPr>
            <a:r>
              <a:t>Status spread across workflow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95160" y="4700016"/>
            <a:ext cx="4297680" cy="694944"/>
          </a:xfrm>
          <a:prstGeom prst="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86600" y="4800600"/>
            <a:ext cx="4114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19">
                <a:solidFill>
                  <a:srgbClr val="28313F"/>
                </a:solidFill>
              </a:defRPr>
            </a:pPr>
            <a:r>
              <a:t>Clear lifecycle state and readiness gate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394960"/>
            <a:ext cx="2057400" cy="694944"/>
          </a:xfrm>
          <a:prstGeom prst="rect">
            <a:avLst/>
          </a:prstGeom>
          <a:solidFill>
            <a:srgbClr val="F4F7FB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19" y="5495544"/>
            <a:ext cx="1874519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19">
                <a:solidFill>
                  <a:srgbClr val="28313F"/>
                </a:solidFill>
              </a:defRPr>
            </a:pPr>
            <a:r>
              <a:t>Auditability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7480" y="5394960"/>
            <a:ext cx="4297680" cy="694944"/>
          </a:xfrm>
          <a:prstGeom prst="rect">
            <a:avLst/>
          </a:prstGeom>
          <a:solidFill>
            <a:srgbClr val="F4F7FB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88920" y="5495544"/>
            <a:ext cx="4114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19">
                <a:solidFill>
                  <a:srgbClr val="28313F"/>
                </a:solidFill>
              </a:defRPr>
            </a:pPr>
            <a:r>
              <a:t>Depends on existing logging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95160" y="5394960"/>
            <a:ext cx="4297680" cy="694944"/>
          </a:xfrm>
          <a:prstGeom prst="rect">
            <a:avLst/>
          </a:prstGeom>
          <a:solidFill>
            <a:srgbClr val="F4F7FB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86600" y="5495544"/>
            <a:ext cx="41148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19">
                <a:solidFill>
                  <a:srgbClr val="28313F"/>
                </a:solidFill>
              </a:defRPr>
            </a:pPr>
            <a:r>
              <a:t>Explicit lifecycle and configuration audit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C7E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05B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70408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E6C7E"/>
                </a:solidFill>
              </a:defRPr>
            </a:pPr>
            <a:r>
              <a:t>The release is promoted only when it is ready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28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1600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86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47088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2868B1"/>
                </a:solidFill>
              </a:defRPr>
            </a:pPr>
            <a:r>
              <a:t>Create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1993392"/>
            <a:ext cx="256031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96312" y="1554480"/>
            <a:ext cx="1600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C8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1847088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1C8B97"/>
                </a:solidFill>
              </a:defRPr>
            </a:pPr>
            <a:r>
              <a:t>Prepare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96512" y="1993392"/>
            <a:ext cx="256032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98264" y="1554480"/>
            <a:ext cx="1600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67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1847088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674A96"/>
                </a:solidFill>
              </a:defRPr>
            </a:pPr>
            <a:r>
              <a:t>Validate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98464" y="1993392"/>
            <a:ext cx="256032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00216" y="1554480"/>
            <a:ext cx="1600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459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847088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45914A"/>
                </a:solidFill>
              </a:defRPr>
            </a:pPr>
            <a:r>
              <a:t>Activate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00416" y="1993392"/>
            <a:ext cx="256032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02168" y="1554480"/>
            <a:ext cx="1600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E8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1847088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DE8021"/>
                </a:solidFill>
              </a:defRPr>
            </a:pPr>
            <a:r>
              <a:t>Assign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802368" y="1993392"/>
            <a:ext cx="256032" cy="0"/>
          </a:xfrm>
          <a:prstGeom prst="line">
            <a:avLst/>
          </a:prstGeom>
          <a:ln w="21590">
            <a:solidFill>
              <a:srgbClr val="123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104120" y="1554480"/>
            <a:ext cx="1600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23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04120" y="1847088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12305B"/>
                </a:solidFill>
              </a:defRPr>
            </a:pPr>
            <a:r>
              <a:t>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06324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063240"/>
            <a:ext cx="73152" cy="2148840"/>
          </a:xfrm>
          <a:prstGeom prst="rect">
            <a:avLst/>
          </a:prstGeom>
          <a:solidFill>
            <a:srgbClr val="123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22783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2305B"/>
                </a:solidFill>
              </a:defRPr>
            </a:pPr>
            <a: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70332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Defined lifecycle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Readiness gate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Controlled activation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06324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3063240"/>
            <a:ext cx="73152" cy="2148840"/>
          </a:xfrm>
          <a:prstGeom prst="rect">
            <a:avLst/>
          </a:prstGeom>
          <a:solidFill>
            <a:srgbClr val="1C8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22783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1C8B97"/>
                </a:solidFill>
              </a:defRPr>
            </a:pPr>
            <a:r>
              <a:t>Traceability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70332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Release to DLL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DLL to test method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Assignment to user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3063240"/>
            <a:ext cx="33832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D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01000" y="3063240"/>
            <a:ext cx="73152" cy="2148840"/>
          </a:xfrm>
          <a:prstGeom prst="rect">
            <a:avLst/>
          </a:prstGeom>
          <a:solidFill>
            <a:srgbClr val="459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22783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>
                <a:solidFill>
                  <a:srgbClr val="45914A"/>
                </a:solidFill>
              </a:defRPr>
            </a:pPr>
            <a:r>
              <a:t>Operational Value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703320"/>
            <a:ext cx="2971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Clear ownership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Better visibility</a:t>
            </a:r>
          </a:p>
          <a:p>
            <a:pPr>
              <a:spcAft>
                <a:spcPts val="600"/>
              </a:spcAft>
              <a:defRPr sz="1150">
                <a:solidFill>
                  <a:srgbClr val="28313F"/>
                </a:solidFill>
              </a:defRPr>
            </a:pPr>
            <a:r>
              <a:t>• Data-driven environment configuration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900">
                <a:solidFill>
                  <a:srgbClr val="12305B"/>
                </a:solidFill>
              </a:defRPr>
            </a:pPr>
            <a:r>
              <a:t>Create → Prepare → Validate → Activate → Assign → 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51052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C7E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